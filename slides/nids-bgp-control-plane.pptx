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EC04EB-64D4-4156-AA49-35793A7AE631}" v="5" dt="2026-06-23T18:45:57.734"/>
    <p1510:client id="{CDF513A1-B255-4101-BE79-ECF23538FE28}" v="8" dt="2026-06-23T18:25:11.3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77" d="100"/>
          <a:sy n="77" d="100"/>
        </p:scale>
        <p:origin x="88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Ma" userId="76ce3eca6332f494" providerId="LiveId" clId="{321A1A51-A02B-408D-8854-C08751FFD88A}"/>
    <pc:docChg chg="undo custSel modSld">
      <pc:chgData name="Alex Ma" userId="76ce3eca6332f494" providerId="LiveId" clId="{321A1A51-A02B-408D-8854-C08751FFD88A}" dt="2026-06-23T18:46:02.978" v="24" actId="1076"/>
      <pc:docMkLst>
        <pc:docMk/>
      </pc:docMkLst>
      <pc:sldChg chg="addSp modSp mod">
        <pc:chgData name="Alex Ma" userId="76ce3eca6332f494" providerId="LiveId" clId="{321A1A51-A02B-408D-8854-C08751FFD88A}" dt="2026-06-23T18:42:08.121" v="13" actId="1076"/>
        <pc:sldMkLst>
          <pc:docMk/>
          <pc:sldMk cId="0" sldId="265"/>
        </pc:sldMkLst>
        <pc:spChg chg="mod">
          <ac:chgData name="Alex Ma" userId="76ce3eca6332f494" providerId="LiveId" clId="{321A1A51-A02B-408D-8854-C08751FFD88A}" dt="2026-06-23T18:41:44.099" v="8" actId="20577"/>
          <ac:spMkLst>
            <pc:docMk/>
            <pc:sldMk cId="0" sldId="265"/>
            <ac:spMk id="19" creationId="{00000000-0000-0000-0000-000000000000}"/>
          </ac:spMkLst>
        </pc:spChg>
        <pc:spChg chg="add mod">
          <ac:chgData name="Alex Ma" userId="76ce3eca6332f494" providerId="LiveId" clId="{321A1A51-A02B-408D-8854-C08751FFD88A}" dt="2026-06-23T18:42:08.121" v="13" actId="1076"/>
          <ac:spMkLst>
            <pc:docMk/>
            <pc:sldMk cId="0" sldId="265"/>
            <ac:spMk id="21" creationId="{69B8F81A-C822-F4BE-DAFA-0A44048C396C}"/>
          </ac:spMkLst>
        </pc:spChg>
      </pc:sldChg>
      <pc:sldChg chg="addSp delSp modSp mod">
        <pc:chgData name="Alex Ma" userId="76ce3eca6332f494" providerId="LiveId" clId="{321A1A51-A02B-408D-8854-C08751FFD88A}" dt="2026-06-23T18:46:02.978" v="24" actId="1076"/>
        <pc:sldMkLst>
          <pc:docMk/>
          <pc:sldMk cId="0" sldId="268"/>
        </pc:sldMkLst>
        <pc:spChg chg="add del">
          <ac:chgData name="Alex Ma" userId="76ce3eca6332f494" providerId="LiveId" clId="{321A1A51-A02B-408D-8854-C08751FFD88A}" dt="2026-06-23T18:44:10.211" v="17" actId="22"/>
          <ac:spMkLst>
            <pc:docMk/>
            <pc:sldMk cId="0" sldId="268"/>
            <ac:spMk id="13" creationId="{31F5ADBA-8EB0-84AF-D0E4-33EAF1F8C966}"/>
          </ac:spMkLst>
        </pc:spChg>
        <pc:spChg chg="add mod">
          <ac:chgData name="Alex Ma" userId="76ce3eca6332f494" providerId="LiveId" clId="{321A1A51-A02B-408D-8854-C08751FFD88A}" dt="2026-06-23T18:46:02.978" v="24" actId="1076"/>
          <ac:spMkLst>
            <pc:docMk/>
            <pc:sldMk cId="0" sldId="268"/>
            <ac:spMk id="15" creationId="{62F9A382-293C-2C78-331B-BFB907E7A072}"/>
          </ac:spMkLst>
        </pc:spChg>
        <pc:picChg chg="add mod">
          <ac:chgData name="Alex Ma" userId="76ce3eca6332f494" providerId="LiveId" clId="{321A1A51-A02B-408D-8854-C08751FFD88A}" dt="2026-06-23T18:45:15.342" v="21" actId="1076"/>
          <ac:picMkLst>
            <pc:docMk/>
            <pc:sldMk cId="0" sldId="268"/>
            <ac:picMk id="14" creationId="{AB78219E-C2BF-9EEE-D14E-618FC90969C0}"/>
          </ac:picMkLst>
        </pc:picChg>
      </pc:sldChg>
      <pc:sldChg chg="modSp mod">
        <pc:chgData name="Alex Ma" userId="76ce3eca6332f494" providerId="LiveId" clId="{321A1A51-A02B-408D-8854-C08751FFD88A}" dt="2026-06-23T18:43:09.978" v="14" actId="6549"/>
        <pc:sldMkLst>
          <pc:docMk/>
          <pc:sldMk cId="0" sldId="271"/>
        </pc:sldMkLst>
        <pc:spChg chg="mod">
          <ac:chgData name="Alex Ma" userId="76ce3eca6332f494" providerId="LiveId" clId="{321A1A51-A02B-408D-8854-C08751FFD88A}" dt="2026-06-23T18:43:09.978" v="14" actId="6549"/>
          <ac:spMkLst>
            <pc:docMk/>
            <pc:sldMk cId="0" sldId="271"/>
            <ac:spMk id="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3419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Infrastructure-hour lab background for the nids-bgp-control-plane assignment. Three tasks: origin AS / address attribution, customer-cone reach, and ranking joined to organizations.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lab is Block 2, BGP at scale. Task 2 (customer cones) borrows from Block 4 — flagged on the cone slide as a forward-pointer; the full relationships/cones treatment lands in Block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Orient, don't re-teach: this bridges Block 1's topology view into Block 2's address-space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one: origin-AS attribution and address counting (Task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BGP basics are INTERMEDIATE for this cohort (median 3) — brief grounding, then move to address space. Emphasize the topology→address-space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Names + identifiers in Roboto Mono. RouteViews/MRT confirmed snapshot route-views3 / 2026.03. IODA is an optional cross-check, not used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origin_asns is a set in bgpkit — usually one ASN, sometimes several. Several = MOAS (next).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Task 1 needs only the origin (last hop). The full path's link structure is what CAIDA uses upstream to build the cone file loaded in Task 2 — not reconstructed in this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Q2 asks for the MOAS percentage — real value ≈ 0.4%. If a student reports 10%+, the MOAS test is wrong (e.g. counting peers, not origins).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Plants the seed for Q3 (divergence). CIDR math is INTERMEDIATE; keep it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Hardest correctness point in the lab. Walk the 3-level case slowly (also in the appendix).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gotchas: children() includes the prefix itself; filter to direct children. Off-by-billions means nested space double-counted.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Each point means “this many ASes have at least x.” Stress at least. CCDF is lab-specific — teach it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Mean 14 vs median 2 is the Q1 headline. Calibration figures real but rounded; exact answers withheld.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two: customer cones (Task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Root is in its own cone → a stub's cone is just itself → cone == origin for stubs. Anchors Q5.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dual-method distinction is the biggest correctness gap. Owns (subtract) vs reaches (don't subtract).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Address sweep merges sorted intervals; no more-specific subtraction.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Q5 hinges on superset → cone ≥ origin, equal only for stubs. Largest origin ≈14.4k vs largest cone ≈882k.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Part three: ranking and AS2Org (Task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Leader TYPES, not the answer key. Real ranked table and counts are [student computes].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rank-vector sort is what trips students up. #1 in two metrics outranks #1 in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good Q6 names the mechanism (transit vs ownership vs legacy), not just the org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this before students leave for JupyterHub. Orange marks the two costliest correctness traps.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Assignment structure identical every week. Slug + repo in Roboto Mono. Authoritative grading lives in the Claude Code workflow, not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Predictable close. Confirm NRP access before the session, not during. Questions line kept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Everything after this is self-study.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Self-study detail for the LPM rule; denser text is fine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Advanced terms only; alphabetized; two-column reflow.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1234440" y="1426464"/>
            <a:ext cx="8796528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312">
                <a:solidFill>
                  <a:srgbClr val="A9C2E4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1956816"/>
            <a:ext cx="87782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5850" b="0" i="0" spc="-88">
                <a:solidFill>
                  <a:srgbClr val="212529"/>
                </a:solidFill>
                <a:latin typeface="Arial"/>
              </a:rPr>
              <a:t>BGP Control Plane Measurement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160520"/>
            <a:ext cx="8412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buNone/>
            </a:pPr>
            <a:r>
              <a:rPr sz="2550" b="0" i="0">
                <a:solidFill>
                  <a:srgbClr val="343A40"/>
                </a:solidFill>
                <a:latin typeface="Arial"/>
              </a:rPr>
              <a:t>Week 2: from the global routing table to </a:t>
            </a:r>
            <a:r>
              <a:rPr sz="2550" b="1" i="0">
                <a:solidFill>
                  <a:srgbClr val="2B5187"/>
                </a:solidFill>
                <a:latin typeface="Arial"/>
              </a:rPr>
              <a:t>who owns</a:t>
            </a:r>
            <a:r>
              <a:rPr sz="2550" b="0" i="0">
                <a:solidFill>
                  <a:srgbClr val="343A40"/>
                </a:solidFill>
                <a:latin typeface="Arial"/>
              </a:rPr>
              <a:t> and </a:t>
            </a:r>
            <a:r>
              <a:rPr sz="2550" b="1" i="0">
                <a:solidFill>
                  <a:srgbClr val="2B5187"/>
                </a:solidFill>
                <a:latin typeface="Arial"/>
              </a:rPr>
              <a:t>who reaches</a:t>
            </a:r>
            <a:r>
              <a:rPr sz="2550" b="0" i="0">
                <a:solidFill>
                  <a:srgbClr val="343A40"/>
                </a:solidFill>
                <a:latin typeface="Arial"/>
              </a:rPr>
              <a:t> the Internet’s address space.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7626096"/>
            <a:ext cx="2651760" cy="301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 i="0" spc="180">
                <a:solidFill>
                  <a:srgbClr val="6C757D"/>
                </a:solidFill>
                <a:latin typeface="Arial"/>
              </a:rPr>
              <a:t>PLENARY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7991856"/>
            <a:ext cx="2651760" cy="3383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0" i="0" dirty="0">
                <a:solidFill>
                  <a:srgbClr val="212529"/>
                </a:solidFill>
                <a:latin typeface="Arial"/>
              </a:rPr>
              <a:t>Tue Jun 23 · 12:00 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7626096"/>
            <a:ext cx="1920240" cy="301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 i="0" spc="180">
                <a:solidFill>
                  <a:srgbClr val="6C757D"/>
                </a:solidFill>
                <a:latin typeface="Arial"/>
              </a:rPr>
              <a:t>INSTRUCTOR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7991856"/>
            <a:ext cx="1920240" cy="3383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0" i="0">
                <a:solidFill>
                  <a:srgbClr val="212529"/>
                </a:solidFill>
                <a:latin typeface="Arial"/>
              </a:rPr>
              <a:t>kc claffy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4" y="7626096"/>
            <a:ext cx="5248656" cy="301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 i="0" spc="180">
                <a:solidFill>
                  <a:srgbClr val="6C757D"/>
                </a:solidFill>
                <a:latin typeface="Arial"/>
              </a:rPr>
              <a:t>SENIOR MENTORS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7991856"/>
            <a:ext cx="5248656" cy="3383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0" i="0">
                <a:solidFill>
                  <a:srgbClr val="212529"/>
                </a:solidFill>
                <a:latin typeface="Arial"/>
              </a:rPr>
              <a:t>Ricky Mok · Bradley Huffaker · Rocky Chang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87784" y="7626096"/>
            <a:ext cx="3200400" cy="301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 i="0" spc="180">
                <a:solidFill>
                  <a:srgbClr val="6C757D"/>
                </a:solidFill>
                <a:latin typeface="Arial"/>
              </a:rPr>
              <a:t>PROGRAM CONTACT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987784" y="7991856"/>
            <a:ext cx="3200400" cy="3383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0" i="0">
                <a:solidFill>
                  <a:srgbClr val="212529"/>
                </a:solidFill>
                <a:latin typeface="Arial"/>
              </a:rPr>
              <a:t>Alex 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8897112"/>
            <a:ext cx="82296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Supported by the NSF ESCALATE project · OAC-2519416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C9F727-C99F-C8E0-438A-569EB0302544}"/>
              </a:ext>
            </a:extLst>
          </p:cNvPr>
          <p:cNvSpPr txBox="1"/>
          <p:nvPr/>
        </p:nvSpPr>
        <p:spPr>
          <a:xfrm>
            <a:off x="4572000" y="49604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5C23AD3F-5475-8B2B-C177-5069A8013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950" y="1856232"/>
            <a:ext cx="8211957" cy="46216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828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THE ARC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373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Ten building blocks — you are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2286000"/>
            <a:ext cx="2990088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53896" y="2496312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C2C8D2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3896" y="3072384"/>
            <a:ext cx="2624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Internet structure &amp; ASNs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3984" y="2286000"/>
            <a:ext cx="2990088" cy="3255264"/>
          </a:xfrm>
          <a:prstGeom prst="rect">
            <a:avLst/>
          </a:prstGeom>
          <a:solidFill>
            <a:srgbClr val="E9EFF7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2496312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2B5187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072384"/>
            <a:ext cx="2624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1" i="0">
                <a:solidFill>
                  <a:srgbClr val="212529"/>
                </a:solidFill>
                <a:latin typeface="Arial"/>
              </a:rPr>
              <a:t>BGP at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44383" y="2286000"/>
            <a:ext cx="2990088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2496312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C2C8D2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072384"/>
            <a:ext cx="2624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Registries: WHOIS / IRR / RPKI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53928" y="2286000"/>
            <a:ext cx="2990088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073384" y="2496312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C2C8D2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73384" y="3072384"/>
            <a:ext cx="2624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AS relationships &amp; cones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54328" y="2286000"/>
            <a:ext cx="2990088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273784" y="2496312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C2C8D2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73784" y="3072384"/>
            <a:ext cx="2624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Traceroute, topology, cables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4440" y="5751576"/>
            <a:ext cx="2990088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453896" y="5961888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C2C8D2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53896" y="6537960"/>
            <a:ext cx="2624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Geolocation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3984" y="5751576"/>
            <a:ext cx="2990088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5961888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C2C8D2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6537960"/>
            <a:ext cx="2624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Network telescope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44383" y="5751576"/>
            <a:ext cx="2990088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5961888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C2C8D2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6537960"/>
            <a:ext cx="2624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Data fusion (IYP)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53928" y="5751576"/>
            <a:ext cx="2990088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073384" y="5961888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C2C8D2"/>
                </a:solidFill>
                <a:latin typeface="Arial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73384" y="6537960"/>
            <a:ext cx="2624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Degradation forensics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054328" y="5751576"/>
            <a:ext cx="2990088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273784" y="5961888"/>
            <a:ext cx="271576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3450" b="0" i="0">
                <a:solidFill>
                  <a:srgbClr val="C2C8D2"/>
                </a:solidFill>
                <a:latin typeface="Arial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273784" y="6537960"/>
            <a:ext cx="26243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SDSC hackathon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9253728"/>
            <a:ext cx="173736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Weeks 1–8 build one block at a time; weeks 9–10 integrate them into a full forensic pipeline.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LAST WEEK ·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From topology to address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5084064"/>
            <a:ext cx="128016" cy="128016"/>
          </a:xfrm>
          <a:prstGeom prst="rect">
            <a:avLst/>
          </a:prstGeom>
          <a:solidFill>
            <a:srgbClr val="C2C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93776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Block 1 mapped Internet structure — ASes, ASNs, and how they interconnect.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742432"/>
            <a:ext cx="128016" cy="128016"/>
          </a:xfrm>
          <a:prstGeom prst="rect">
            <a:avLst/>
          </a:prstGeom>
          <a:solidFill>
            <a:srgbClr val="C2C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596128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You worked the topology view: </a:t>
            </a:r>
            <a:r>
              <a:rPr sz="2100" b="0" i="0">
                <a:solidFill>
                  <a:srgbClr val="212529"/>
                </a:solidFill>
                <a:latin typeface="Arial"/>
              </a:rPr>
              <a:t>who connects to whom.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6400800"/>
            <a:ext cx="128016" cy="128016"/>
          </a:xfrm>
          <a:prstGeom prst="rect">
            <a:avLst/>
          </a:prstGeom>
          <a:solidFill>
            <a:srgbClr val="C2C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6254496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We deferred the next question: </a:t>
            </a:r>
            <a:r>
              <a:rPr sz="2100" b="0" i="0">
                <a:solidFill>
                  <a:srgbClr val="212529"/>
                </a:solidFill>
                <a:latin typeface="Arial"/>
              </a:rPr>
              <a:t>who owns and who reaches the address space.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97512" y="4672584"/>
            <a:ext cx="4956048" cy="2487168"/>
          </a:xfrm>
          <a:prstGeom prst="rect">
            <a:avLst/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499848" y="5074920"/>
            <a:ext cx="4553712" cy="3017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1" i="0" spc="180">
                <a:solidFill>
                  <a:srgbClr val="2B5187"/>
                </a:solidFill>
                <a:latin typeface="Arial"/>
              </a:rPr>
              <a:t>THIS WEEK BUILDS ON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99848" y="5513832"/>
            <a:ext cx="42976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buNone/>
            </a:pPr>
            <a:r>
              <a:rPr sz="2325" b="0" i="0">
                <a:solidFill>
                  <a:srgbClr val="212529"/>
                </a:solidFill>
                <a:latin typeface="Arial"/>
              </a:rPr>
              <a:t>We read the global routing table to attribute every prefix to an origin AS — then to the cone that reaches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51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194560"/>
            <a:ext cx="8101583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351">
                <a:solidFill>
                  <a:srgbClr val="A9C2E4"/>
                </a:solidFill>
                <a:latin typeface="Arial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9464"/>
            <a:ext cx="8101583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750" b="0" i="0" spc="-315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61772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800" b="0" i="0" spc="-48" dirty="0">
                <a:solidFill>
                  <a:srgbClr val="FFFFFF"/>
                </a:solidFill>
                <a:latin typeface="Arial"/>
              </a:rPr>
              <a:t>From RIB to origin 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4864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550" b="0" i="0" dirty="0">
                <a:solidFill>
                  <a:srgbClr val="A9C2E4"/>
                </a:solidFill>
                <a:latin typeface="Arial"/>
              </a:rPr>
              <a:t>Reading the global routing table to attribute address space.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F94A2E3-0B51-9C93-1B0C-A56C97211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1597" y="2453223"/>
            <a:ext cx="7914060" cy="44843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1 ·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BGP as a system, not just a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44398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297680"/>
            <a:ext cx="8321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BGP is a </a:t>
            </a:r>
            <a:r>
              <a:rPr sz="2100" b="1" i="0">
                <a:solidFill>
                  <a:srgbClr val="212529"/>
                </a:solidFill>
                <a:latin typeface="Arial"/>
              </a:rPr>
              <a:t>protocol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for inter-domain routing — we analyze it as a </a:t>
            </a:r>
            <a:r>
              <a:rPr sz="2100" b="1" i="0">
                <a:solidFill>
                  <a:srgbClr val="212529"/>
                </a:solidFill>
                <a:latin typeface="Arial"/>
              </a:rPr>
              <a:t>system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of global reachability.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40410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257800"/>
            <a:ext cx="8321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Measurement: how do we see the global routing state at one moment?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636422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6217920"/>
            <a:ext cx="83210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RIB (Routing Information Base): a collector’s snapshot of every route it has received.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0" y="4206240"/>
            <a:ext cx="6400800" cy="292608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927080" y="4846320"/>
            <a:ext cx="246888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A9C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27080" y="502920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700" b="0" i="0">
                <a:solidFill>
                  <a:srgbClr val="6C757D"/>
                </a:solidFill>
                <a:latin typeface="Arial"/>
              </a:rPr>
              <a:t>who talks
to whom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533120" y="5303520"/>
            <a:ext cx="731520" cy="0"/>
          </a:xfrm>
          <a:prstGeom prst="line">
            <a:avLst/>
          </a:prstGeom>
          <a:ln w="28575">
            <a:solidFill>
              <a:srgbClr val="2B518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4356080" y="4846320"/>
            <a:ext cx="2377440" cy="914400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356080" y="502920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700" b="1" i="0">
                <a:solidFill>
                  <a:srgbClr val="FFFFFF"/>
                </a:solidFill>
                <a:latin typeface="Arial"/>
              </a:rPr>
              <a:t>who owns &amp;
reaches what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12648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600" b="0" i="1">
                <a:solidFill>
                  <a:srgbClr val="6C757D"/>
                </a:solidFill>
                <a:latin typeface="Arial"/>
              </a:rPr>
              <a:t>this module shifts the question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WHAT YOU’LL WORK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Datasets &amp; tools for this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3246120"/>
            <a:ext cx="1580997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3246120"/>
            <a:ext cx="45720" cy="1371600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64208" y="3410712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300" b="1" i="0">
                <a:solidFill>
                  <a:srgbClr val="212529"/>
                </a:solidFill>
                <a:latin typeface="Arial"/>
              </a:rPr>
              <a:t>RouteViews / MRT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3922776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0" i="0">
                <a:solidFill>
                  <a:srgbClr val="343A40"/>
                </a:solidFill>
                <a:latin typeface="Arial"/>
              </a:rPr>
              <a:t>Global routing tables archived by Univ. of Oregon collectors, as MRT (Multi-Threaded Routing Toolkit) binary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0" y="3520439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0" i="0" spc="108">
                <a:solidFill>
                  <a:srgbClr val="6C757D"/>
                </a:solidFill>
                <a:latin typeface="Arial"/>
              </a:rPr>
              <a:t>COLLECTOR · RIB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0" y="3886200"/>
            <a:ext cx="50292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0" i="0" dirty="0">
                <a:solidFill>
                  <a:srgbClr val="2B5187"/>
                </a:solidFill>
                <a:latin typeface="Roboto Mono"/>
              </a:rPr>
              <a:t>route-views3 · 2026.0</a:t>
            </a:r>
            <a:r>
              <a:rPr lang="en-US" sz="1800" b="0" i="0" dirty="0">
                <a:solidFill>
                  <a:srgbClr val="2B5187"/>
                </a:solidFill>
                <a:latin typeface="Roboto Mono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4727448"/>
            <a:ext cx="1580997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34440" y="4727448"/>
            <a:ext cx="45720" cy="1371600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64208" y="48920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300" b="1" i="0">
                <a:solidFill>
                  <a:srgbClr val="212529"/>
                </a:solidFill>
                <a:latin typeface="Arial"/>
              </a:rPr>
              <a:t>bgpkit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5404104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0" i="0">
                <a:solidFill>
                  <a:srgbClr val="343A40"/>
                </a:solidFill>
                <a:latin typeface="Arial"/>
              </a:rPr>
              <a:t>Decodes MRT so you iterate over routing records as Python objects.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0" y="5001768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0" i="0" spc="108">
                <a:solidFill>
                  <a:srgbClr val="6C757D"/>
                </a:solidFill>
                <a:latin typeface="Arial"/>
              </a:rPr>
              <a:t>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0" y="536752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2B5187"/>
                </a:solidFill>
                <a:latin typeface="Roboto Mono"/>
              </a:rPr>
              <a:t>pybgpkit_parser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6208776"/>
            <a:ext cx="1580997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234440" y="6208776"/>
            <a:ext cx="45720" cy="1371600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64208" y="6373368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300" b="1" i="0">
                <a:solidFill>
                  <a:srgbClr val="212529"/>
                </a:solidFill>
                <a:latin typeface="Arial"/>
              </a:rPr>
              <a:t>CAIDA customer cones (PPDC)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6885432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0" i="0">
                <a:solidFill>
                  <a:srgbClr val="343A40"/>
                </a:solidFill>
                <a:latin typeface="Arial"/>
              </a:rPr>
              <a:t>Per-AS customer-cone membership, derived from provider→customer links.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0" y="648309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0" i="0" spc="108">
                <a:solidFill>
                  <a:srgbClr val="6C757D"/>
                </a:solidFill>
                <a:latin typeface="Arial"/>
              </a:rPr>
              <a:t>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0" y="6848856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2B5187"/>
                </a:solidFill>
                <a:latin typeface="Roboto Mono"/>
              </a:rPr>
              <a:t>20260501.ppdc-ases.txt.bz2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40" y="7690104"/>
            <a:ext cx="1580997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34440" y="7690104"/>
            <a:ext cx="45720" cy="1371600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64208" y="7854696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300" b="1" i="0">
                <a:solidFill>
                  <a:srgbClr val="212529"/>
                </a:solidFill>
                <a:latin typeface="Arial"/>
              </a:rPr>
              <a:t>AS2Org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4208" y="8366760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0" i="0">
                <a:solidFill>
                  <a:srgbClr val="343A40"/>
                </a:solidFill>
                <a:latin typeface="Arial"/>
              </a:rPr>
              <a:t>Maps ASNs to real-world organizations and country.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0" y="7964424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0" i="0" spc="108">
                <a:solidFill>
                  <a:srgbClr val="6C757D"/>
                </a:solidFill>
                <a:latin typeface="Arial"/>
              </a:rPr>
              <a:t>STORED 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0" y="8330183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2B5187"/>
                </a:solidFill>
                <a:latin typeface="Roboto Mono"/>
              </a:rPr>
              <a:t>as2org.jsonl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1 ·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Anatomy of a RIB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194560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Each MRT record is one prefix announcement seen from one vantage point (</a:t>
            </a:r>
            <a:r>
              <a:rPr sz="2100" b="1" i="0">
                <a:solidFill>
                  <a:srgbClr val="212529"/>
                </a:solidFill>
                <a:latin typeface="Arial"/>
              </a:rPr>
              <a:t>peer</a:t>
            </a:r>
            <a:r>
              <a:rPr sz="2100" b="0" i="0">
                <a:solidFill>
                  <a:srgbClr val="343A40"/>
                </a:solidFill>
                <a:latin typeface="Arial"/>
              </a:rPr>
              <a:t>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34440" y="2926080"/>
          <a:ext cx="14264640" cy="358444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2529"/>
                          </a:solidFill>
                          <a:latin typeface="Roboto Mono"/>
                        </a:rPr>
                        <a:t>collector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Roboto Mono"/>
                        </a:rPr>
                        <a:t>route-views3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which collector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2529"/>
                          </a:solidFill>
                          <a:latin typeface="Roboto Mono"/>
                        </a:rPr>
                        <a:t>peer_asn</a:t>
                      </a:r>
                      <a:r>
                        <a:rPr sz="1800" b="0">
                          <a:solidFill>
                            <a:srgbClr val="212529"/>
                          </a:solidFill>
                          <a:latin typeface="Arial"/>
                        </a:rPr>
                        <a:t> / </a:t>
                      </a:r>
                      <a:r>
                        <a:rPr sz="1800" b="0">
                          <a:solidFill>
                            <a:srgbClr val="212529"/>
                          </a:solidFill>
                          <a:latin typeface="Roboto Mono"/>
                        </a:rPr>
                        <a:t>peer_ip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Roboto Mono"/>
                        </a:rPr>
                        <a:t>10 / 12.3.2.1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the vantage point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2529"/>
                          </a:solidFill>
                          <a:latin typeface="Roboto Mono"/>
                        </a:rPr>
                        <a:t>as_path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Roboto Mono"/>
                        </a:rPr>
                        <a:t>10 724 8234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ASNs the route traversed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2529"/>
                          </a:solidFill>
                          <a:latin typeface="Roboto Mono"/>
                        </a:rPr>
                        <a:t>origin_asns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Roboto Mono"/>
                        </a:rPr>
                        <a:t>8234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last ASN — the originator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12529"/>
                          </a:solidFill>
                          <a:latin typeface="Roboto Mono"/>
                        </a:rPr>
                        <a:t>prefix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Roboto Mono"/>
                        </a:rPr>
                        <a:t>192.0.2.0/24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the announced CIDR block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34440" y="8595360"/>
            <a:ext cx="1554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0" i="0">
                <a:solidFill>
                  <a:srgbClr val="343A40"/>
                </a:solidFill>
                <a:latin typeface="Arial"/>
              </a:rPr>
              <a:t>The </a:t>
            </a:r>
            <a:r>
              <a:rPr sz="2000" b="1" i="0">
                <a:solidFill>
                  <a:srgbClr val="2B5187"/>
                </a:solidFill>
                <a:latin typeface="Arial"/>
              </a:rPr>
              <a:t>origin AS</a:t>
            </a:r>
            <a:r>
              <a:rPr sz="2000" b="0" i="0">
                <a:solidFill>
                  <a:srgbClr val="343A40"/>
                </a:solidFill>
                <a:latin typeface="Arial"/>
              </a:rPr>
              <a:t> — the last ASN — is what we attribute address space 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: Code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1 · ATTRIBUTION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The AS path: origin and MOAS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44398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297680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Take the </a:t>
            </a:r>
            <a:r>
              <a:rPr sz="2100" b="1" i="0">
                <a:solidFill>
                  <a:srgbClr val="212529"/>
                </a:solidFill>
                <a:latin typeface="Arial"/>
              </a:rPr>
              <a:t>last ASN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in the path — the origin AS, via </a:t>
            </a:r>
            <a:r>
              <a:rPr sz="1900" b="0" i="0">
                <a:solidFill>
                  <a:srgbClr val="2B5187"/>
                </a:solidFill>
                <a:latin typeface="Roboto Mono"/>
              </a:rPr>
              <a:t>elem.origin_asns</a:t>
            </a:r>
            <a:r>
              <a:rPr sz="2100" b="0" i="0">
                <a:solidFill>
                  <a:srgbClr val="343A40"/>
                </a:solidFill>
                <a:latin typeface="Arial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49554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349240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Attribution: each prefix is credited to its origin AS — this drives the Task 1 counts.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654710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6400800"/>
            <a:ext cx="76809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MOAS: the same prefix shows </a:t>
            </a:r>
            <a:r>
              <a:rPr sz="2100" b="1" i="0">
                <a:solidFill>
                  <a:srgbClr val="212529"/>
                </a:solidFill>
                <a:latin typeface="Arial"/>
              </a:rPr>
              <a:t>different origins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across the table.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4114800"/>
            <a:ext cx="7543800" cy="1601216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509760" y="4114800"/>
            <a:ext cx="45720" cy="16012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02368" y="4334256"/>
            <a:ext cx="7086600" cy="1601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None/>
            </a:pPr>
            <a:r>
              <a:rPr sz="1600" b="0" i="0">
                <a:solidFill>
                  <a:srgbClr val="6C757D"/>
                </a:solidFill>
                <a:latin typeface="Roboto Mono"/>
              </a:rPr>
              <a:t># as_path: 10 724 8234  -&gt;  origin = last hop</a:t>
            </a:r>
          </a:p>
          <a:p>
            <a:pPr algn="l">
              <a:lnSpc>
                <a:spcPct val="122000"/>
              </a:lnSpc>
              <a:buNone/>
            </a:pPr>
            <a:r>
              <a:rPr sz="1600" b="0" i="0">
                <a:solidFill>
                  <a:srgbClr val="212529"/>
                </a:solidFill>
                <a:latin typeface="Roboto Mono"/>
              </a:rPr>
              <a:t>for elem in bgpkit.Parser(url=url):</a:t>
            </a:r>
          </a:p>
          <a:p>
            <a:pPr algn="l">
              <a:lnSpc>
                <a:spcPct val="122000"/>
              </a:lnSpc>
              <a:buNone/>
            </a:pPr>
            <a:r>
              <a:rPr sz="1600" b="0" i="0">
                <a:solidFill>
                  <a:srgbClr val="212529"/>
                </a:solidFill>
                <a:latin typeface="Roboto Mono"/>
              </a:rPr>
              <a:t>    prefix_origins[elem.prefix] \</a:t>
            </a:r>
          </a:p>
          <a:p>
            <a:pPr algn="l">
              <a:lnSpc>
                <a:spcPct val="122000"/>
              </a:lnSpc>
              <a:buNone/>
            </a:pPr>
            <a:r>
              <a:rPr sz="1600" b="0" i="0">
                <a:solidFill>
                  <a:srgbClr val="212529"/>
                </a:solidFill>
                <a:latin typeface="Roboto Mono"/>
              </a:rPr>
              <a:t>        .update(elem.origin_asns)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1 · MOAS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The Multi-Origin AS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26110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114800"/>
            <a:ext cx="7863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A </a:t>
            </a:r>
            <a:r>
              <a:rPr sz="2100" b="1" i="0">
                <a:solidFill>
                  <a:srgbClr val="212529"/>
                </a:solidFill>
                <a:latin typeface="Arial"/>
              </a:rPr>
              <a:t>MOAS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prefix is announced from more than one AS at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26694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120640"/>
            <a:ext cx="7863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Benign: multi-homing, traffic engineering, mergers / acquisitions.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627278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6126480"/>
            <a:ext cx="7863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1" i="0">
                <a:solidFill>
                  <a:srgbClr val="BE4228"/>
                </a:solidFill>
                <a:latin typeface="Arial"/>
              </a:rPr>
              <a:t>Security risk: </a:t>
            </a:r>
            <a:r>
              <a:rPr sz="2100" b="0" i="0">
                <a:solidFill>
                  <a:srgbClr val="343A40"/>
                </a:solidFill>
                <a:latin typeface="Arial"/>
              </a:rPr>
              <a:t>can signal a BGP hijack — an unauthorized AS announcing someone else’s space.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727862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72768" y="7132320"/>
            <a:ext cx="7863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Task rule: exclude MOAS from per-AS counting (can’t attribute cleanly). Ballpark &lt; 1%.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4114800"/>
            <a:ext cx="7543800" cy="1601216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509760" y="4114800"/>
            <a:ext cx="45720" cy="16012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02368" y="4334256"/>
            <a:ext cx="7086600" cy="1601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None/>
            </a:pPr>
            <a:r>
              <a:rPr sz="1600" b="0" i="0">
                <a:solidFill>
                  <a:srgbClr val="212529"/>
                </a:solidFill>
                <a:latin typeface="Roboto Mono"/>
              </a:rPr>
              <a:t>if len(origins) &gt; 1:</a:t>
            </a:r>
          </a:p>
          <a:p>
            <a:pPr algn="l">
              <a:lnSpc>
                <a:spcPct val="122000"/>
              </a:lnSpc>
              <a:buNone/>
            </a:pPr>
            <a:r>
              <a:rPr sz="1600" b="0" i="0">
                <a:solidFill>
                  <a:srgbClr val="212529"/>
                </a:solidFill>
                <a:latin typeface="Roboto Mono"/>
              </a:rPr>
              <a:t>    moas_count += 1</a:t>
            </a:r>
          </a:p>
          <a:p>
            <a:pPr algn="l">
              <a:lnSpc>
                <a:spcPct val="122000"/>
              </a:lnSpc>
              <a:buNone/>
            </a:pPr>
            <a:r>
              <a:rPr sz="1600" b="0" i="0">
                <a:solidFill>
                  <a:srgbClr val="212529"/>
                </a:solidFill>
                <a:latin typeface="Roboto Mono"/>
              </a:rPr>
              <a:t>else:</a:t>
            </a:r>
          </a:p>
          <a:p>
            <a:pPr algn="l">
              <a:lnSpc>
                <a:spcPct val="122000"/>
              </a:lnSpc>
              <a:buNone/>
            </a:pPr>
            <a:r>
              <a:rPr sz="1600" b="0" i="0">
                <a:solidFill>
                  <a:srgbClr val="212529"/>
                </a:solidFill>
                <a:latin typeface="Roboto Mono"/>
              </a:rPr>
              <a:t>    asn = next(iter(origins))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 dirty="0">
                <a:solidFill>
                  <a:srgbClr val="A9C2E4"/>
                </a:solidFill>
                <a:latin typeface="Arial"/>
              </a:rPr>
              <a:t>TASK 1 · ADDRESS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Prefixes vs. address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 dirty="0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 dirty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44398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29768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Counting </a:t>
            </a:r>
            <a:r>
              <a:rPr sz="2100" b="0" i="1">
                <a:solidFill>
                  <a:srgbClr val="212529"/>
                </a:solidFill>
                <a:latin typeface="Arial"/>
              </a:rPr>
              <a:t>prefixes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is coarse — prefix size varies exponentially.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44982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30352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000" b="0" i="0">
                <a:solidFill>
                  <a:srgbClr val="2B5187"/>
                </a:solidFill>
                <a:latin typeface="Roboto Mono"/>
              </a:rPr>
              <a:t>/8 → 16,777,216 addresses    /16 → 65,536    /24 → 256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645566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630936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 dirty="0">
                <a:solidFill>
                  <a:srgbClr val="343A40"/>
                </a:solidFill>
                <a:latin typeface="Arial"/>
              </a:rPr>
              <a:t>A few coarse blocks can dwarf thousands of /24s — we need an </a:t>
            </a:r>
            <a:r>
              <a:rPr sz="2100" b="1" i="0" dirty="0">
                <a:solidFill>
                  <a:srgbClr val="212529"/>
                </a:solidFill>
                <a:latin typeface="Arial"/>
              </a:rPr>
              <a:t>address count.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0" y="4114800"/>
            <a:ext cx="63093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972800" y="4572000"/>
            <a:ext cx="5394960" cy="2194560"/>
          </a:xfrm>
          <a:prstGeom prst="rect">
            <a:avLst/>
          </a:prstGeom>
          <a:solidFill>
            <a:srgbClr val="E9EFF7"/>
          </a:solidFill>
          <a:ln w="15875">
            <a:solidFill>
              <a:srgbClr val="2B51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0" y="46817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700" b="1" i="0">
                <a:solidFill>
                  <a:srgbClr val="2B5187"/>
                </a:solidFill>
                <a:latin typeface="Roboto Mono"/>
              </a:rPr>
              <a:t>/8  block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704320" y="5257800"/>
            <a:ext cx="329184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2B51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0" y="53492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2B5187"/>
                </a:solidFill>
                <a:latin typeface="Roboto Mono"/>
              </a:rPr>
              <a:t>/16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0" y="5806440"/>
            <a:ext cx="1828800" cy="685800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344400" y="59436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600" b="1" i="0">
                <a:solidFill>
                  <a:srgbClr val="FFFFFF"/>
                </a:solidFill>
                <a:latin typeface="Roboto Mono"/>
              </a:rPr>
              <a:t>/24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7315200"/>
            <a:ext cx="63093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800" b="0" i="0" dirty="0">
                <a:solidFill>
                  <a:srgbClr val="212529"/>
                </a:solidFill>
                <a:latin typeface="Roboto Mono"/>
              </a:rPr>
              <a:t>addresses = </a:t>
            </a:r>
            <a:r>
              <a:rPr lang="en-US" dirty="0"/>
              <a:t>2     </a:t>
            </a:r>
            <a:r>
              <a:rPr sz="1800" b="0" i="0" dirty="0">
                <a:solidFill>
                  <a:srgbClr val="6C757D"/>
                </a:solidFill>
                <a:latin typeface="Roboto Mono"/>
              </a:rPr>
              <a:t>  for a /n prefix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B8F81A-C822-F4BE-DAFA-0A44048C396C}"/>
              </a:ext>
            </a:extLst>
          </p:cNvPr>
          <p:cNvSpPr txBox="1"/>
          <p:nvPr/>
        </p:nvSpPr>
        <p:spPr>
          <a:xfrm>
            <a:off x="13162171" y="7207031"/>
            <a:ext cx="914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(32−n)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Counting addresses: longest-prefix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331720"/>
            <a:ext cx="8595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Prefixes nest. Credit each address to the </a:t>
            </a:r>
            <a:r>
              <a:rPr sz="2100" b="1" i="0">
                <a:solidFill>
                  <a:srgbClr val="212529"/>
                </a:solidFill>
                <a:latin typeface="Arial"/>
              </a:rPr>
              <a:t>most-specific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prefix covering it: take a prefix’s size and subtract the sizes of its direct children only.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3931920"/>
            <a:ext cx="8284464" cy="146304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34440" y="3931920"/>
            <a:ext cx="45720" cy="1463040"/>
          </a:xfrm>
          <a:prstGeom prst="rect">
            <a:avLst/>
          </a:prstGeom>
          <a:solidFill>
            <a:srgbClr val="BE4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4160520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1" i="0" spc="144">
                <a:solidFill>
                  <a:srgbClr val="BE4228"/>
                </a:solidFill>
                <a:latin typeface="Arial"/>
              </a:rPr>
              <a:t>THE HARDEST CORRECTNESS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4526280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buNone/>
            </a:pPr>
            <a:r>
              <a:rPr sz="1900" b="0" i="0">
                <a:solidFill>
                  <a:srgbClr val="343A40"/>
                </a:solidFill>
                <a:latin typeface="Arial"/>
              </a:rPr>
              <a:t>Direct children only. If A⊃B⊃C, A subtracts B (which already contains C); B subtracts C. Subtracting C from A too undercounts 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95560" y="3767328"/>
            <a:ext cx="68580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195560" y="3767328"/>
            <a:ext cx="45720" cy="786384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0" y="3968496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212529"/>
                </a:solidFill>
                <a:latin typeface="Arial"/>
              </a:rPr>
              <a:t>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3968496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600" b="0" i="0">
                <a:solidFill>
                  <a:srgbClr val="2B5187"/>
                </a:solidFill>
                <a:latin typeface="Roboto Mono"/>
              </a:rPr>
              <a:t>ipv4_single_origin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60" y="4553712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2000" b="0" i="0">
                <a:solidFill>
                  <a:srgbClr val="C2C8D2"/>
                </a:solidFill>
                <a:latin typeface="Arial"/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95560" y="4937760"/>
            <a:ext cx="68580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195560" y="4937760"/>
            <a:ext cx="45720" cy="786384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0" y="5138928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212529"/>
                </a:solidFill>
                <a:latin typeface="Arial"/>
              </a:rPr>
              <a:t>Insert into trie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5138928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600" b="0" i="0">
                <a:solidFill>
                  <a:srgbClr val="2B5187"/>
                </a:solidFill>
                <a:latin typeface="Roboto Mono"/>
              </a:rPr>
              <a:t>pytricia.PyTricia(32)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5724144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2000" b="0" i="0">
                <a:solidFill>
                  <a:srgbClr val="C2C8D2"/>
                </a:solidFill>
                <a:latin typeface="Arial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95560" y="6108192"/>
            <a:ext cx="68580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195560" y="6108192"/>
            <a:ext cx="45720" cy="786384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0" y="6309360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212529"/>
                </a:solidFill>
                <a:latin typeface="Arial"/>
              </a:rPr>
              <a:t>Subtract direct kids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309360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600" b="0" i="0">
                <a:solidFill>
                  <a:srgbClr val="2B5187"/>
                </a:solidFill>
                <a:latin typeface="Roboto Mono"/>
              </a:rPr>
              <a:t>pyt.parent(child)==prefix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6894576"/>
            <a:ext cx="6858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2000" b="0" i="0">
                <a:solidFill>
                  <a:srgbClr val="C2C8D2"/>
                </a:solidFill>
                <a:latin typeface="Arial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95560" y="7278624"/>
            <a:ext cx="6858000" cy="786384"/>
          </a:xfrm>
          <a:prstGeom prst="rect">
            <a:avLst/>
          </a:prstGeom>
          <a:solidFill>
            <a:srgbClr val="E9EFF7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195560" y="7278624"/>
            <a:ext cx="45720" cy="786384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15600" y="7479792"/>
            <a:ext cx="4754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2B5187"/>
                </a:solidFill>
                <a:latin typeface="Arial"/>
              </a:rPr>
              <a:t>Per-AS 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7479792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buNone/>
            </a:pPr>
            <a:r>
              <a:rPr sz="1600" b="0" i="0">
                <a:solidFill>
                  <a:srgbClr val="2B5187"/>
                </a:solidFill>
                <a:latin typeface="Roboto Mono"/>
              </a:rPr>
              <a:t>counts[asn]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: Code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1 ·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Longest-prefix match with PyTricia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2286000"/>
            <a:ext cx="15819120" cy="3677412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34440" y="2286000"/>
            <a:ext cx="45720" cy="3677412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27048" y="2505456"/>
            <a:ext cx="15361920" cy="3677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pyt = pytricia.PyTricia(32)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for prefix, asn in ipv4_single_origin: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pyt[prefix] = asn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for prefix, asn, plen in parsed: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total = 1 &lt;&lt; (32 - plen)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overlap = 0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for child in pyt.children(prefix):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6C757D"/>
                </a:solidFill>
                <a:latin typeface="Roboto Mono"/>
              </a:rPr>
              <a:t>        if child == prefix: continue           # children() includes self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6C757D"/>
                </a:solidFill>
                <a:latin typeface="Roboto Mono"/>
              </a:rPr>
              <a:t>        if pyt.parent(child) == prefix:        # DIRECT children only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        overlap += 1 &lt;&lt; (32 - int(child.split('/')[1]))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counts[asn] += total - overlap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8869680"/>
            <a:ext cx="1581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00" b="1" i="0" dirty="0">
                <a:solidFill>
                  <a:srgbClr val="2B5187"/>
                </a:solidFill>
                <a:latin typeface="Arial"/>
              </a:rPr>
              <a:t>Scale check: </a:t>
            </a:r>
            <a:r>
              <a:rPr sz="1900" b="0" i="0" dirty="0">
                <a:solidFill>
                  <a:srgbClr val="343A40"/>
                </a:solidFill>
                <a:latin typeface="Arial"/>
              </a:rPr>
              <a:t>total attributed IPv4 ≈ 3.1 billion across ≈ 77,600 origin ASes (not ≈ 4.3B — that means double-counting).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1 · READING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Reading a CCDF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44398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29768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A </a:t>
            </a:r>
            <a:r>
              <a:rPr sz="2100" b="1" i="0">
                <a:solidFill>
                  <a:srgbClr val="212529"/>
                </a:solidFill>
                <a:latin typeface="Arial"/>
              </a:rPr>
              <a:t>CCDF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plots, for each value x, the number of ASes with </a:t>
            </a:r>
            <a:r>
              <a:rPr sz="2100" b="1" i="0">
                <a:solidFill>
                  <a:srgbClr val="2B5187"/>
                </a:solidFill>
                <a:latin typeface="Arial"/>
              </a:rPr>
              <a:t>≥ x.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44982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30352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Log–log axes — counts span 8+ orders of magnitude.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645566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630936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Steep left + long tail = a few heavy hitters dominate; a near-straight line ≈ power law.</a:t>
            </a:r>
          </a:p>
        </p:txBody>
      </p:sp>
      <p:pic>
        <p:nvPicPr>
          <p:cNvPr id="14" name="Picture 13" descr="CAIDA's Internet Topology Data Comparison - CAIDA">
            <a:extLst>
              <a:ext uri="{FF2B5EF4-FFF2-40B4-BE49-F238E27FC236}">
                <a16:creationId xmlns:a16="http://schemas.microsoft.com/office/drawing/2014/main" id="{AB78219E-C2BF-9EEE-D14E-618FC9096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2558" y="2408657"/>
            <a:ext cx="6638179" cy="46467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2F9A382-293C-2C78-331B-BFB907E7A072}"/>
              </a:ext>
            </a:extLst>
          </p:cNvPr>
          <p:cNvSpPr txBox="1"/>
          <p:nvPr/>
        </p:nvSpPr>
        <p:spPr>
          <a:xfrm>
            <a:off x="12553299" y="7376968"/>
            <a:ext cx="2214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CCDF of Node Degree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1 ·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Origin metrics, and Q1 / 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34440" y="2240280"/>
          <a:ext cx="8778240" cy="1773936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min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max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median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2529"/>
                          </a:solidFill>
                          <a:latin typeface="Arial"/>
                        </a:rPr>
                        <a:t>Origin prefix count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~14.4k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~14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2529"/>
                          </a:solidFill>
                          <a:latin typeface="Arial"/>
                        </a:rPr>
                        <a:t>Origin address count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~223M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C757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C757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234440" y="5120640"/>
            <a:ext cx="8778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buNone/>
            </a:pPr>
            <a:r>
              <a:rPr sz="2000" b="1" i="0">
                <a:solidFill>
                  <a:srgbClr val="2B5187"/>
                </a:solidFill>
                <a:latin typeface="Arial"/>
              </a:rPr>
              <a:t>Q1 — shape: </a:t>
            </a:r>
            <a:r>
              <a:rPr sz="2000" b="0" i="0">
                <a:solidFill>
                  <a:srgbClr val="343A40"/>
                </a:solidFill>
                <a:latin typeface="Arial"/>
              </a:rPr>
              <a:t>heavy-tailed; most ASes tiny (median 2), a few enormous (mean 14, dragged by the tail).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6126480"/>
            <a:ext cx="15727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buNone/>
            </a:pPr>
            <a:r>
              <a:rPr sz="2000" b="1" i="0">
                <a:solidFill>
                  <a:srgbClr val="2B5187"/>
                </a:solidFill>
                <a:latin typeface="Arial"/>
              </a:rPr>
              <a:t>Q3 — divergence: </a:t>
            </a:r>
            <a:r>
              <a:rPr sz="2000" b="0" i="0">
                <a:solidFill>
                  <a:srgbClr val="343A40"/>
                </a:solidFill>
                <a:latin typeface="Arial"/>
              </a:rPr>
              <a:t>the curves separate because prefix size varies hugely — </a:t>
            </a:r>
            <a:r>
              <a:rPr sz="2000" b="1" i="0">
                <a:solidFill>
                  <a:srgbClr val="212529"/>
                </a:solidFill>
                <a:latin typeface="Arial"/>
              </a:rPr>
              <a:t>the top-prefix AS is not the top-address 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51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194560"/>
            <a:ext cx="8101583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351">
                <a:solidFill>
                  <a:srgbClr val="A9C2E4"/>
                </a:solidFill>
                <a:latin typeface="Arial"/>
              </a:rPr>
              <a:t>PART TWO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9464"/>
            <a:ext cx="8101583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750" b="0" i="0" spc="-315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61772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800" b="0" i="0" spc="-48" dirty="0">
                <a:solidFill>
                  <a:srgbClr val="FFFFFF"/>
                </a:solidFill>
                <a:latin typeface="Arial"/>
              </a:rPr>
              <a:t>Customer cones &amp; 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4864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550" b="0" i="0" dirty="0">
                <a:solidFill>
                  <a:srgbClr val="A9C2E4"/>
                </a:solidFill>
                <a:latin typeface="Arial"/>
              </a:rPr>
              <a:t>From what an AS announces to what its cone can reach.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4693BC-92A2-4C91-AD29-DBA62D9E3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201" y="2901028"/>
            <a:ext cx="7309497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2 · CONES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The customer cone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35254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20624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Customer cone = the root AS plus every AS reachable via </a:t>
            </a:r>
            <a:r>
              <a:rPr sz="2100" b="1" i="0">
                <a:solidFill>
                  <a:srgbClr val="2B5187"/>
                </a:solidFill>
                <a:latin typeface="Arial"/>
              </a:rPr>
              <a:t>provider→customer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links.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31266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166359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Measures </a:t>
            </a:r>
            <a:r>
              <a:rPr sz="2100" b="1" i="0">
                <a:solidFill>
                  <a:srgbClr val="212529"/>
                </a:solidFill>
                <a:latin typeface="Arial"/>
              </a:rPr>
              <a:t>transit influence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— not just what an AS announces itself.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6272783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6126479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 dirty="0">
                <a:solidFill>
                  <a:srgbClr val="343A40"/>
                </a:solidFill>
                <a:latin typeface="Arial"/>
              </a:rPr>
              <a:t>Input: CAIDA PPDC file </a:t>
            </a:r>
            <a:r>
              <a:rPr sz="1800" b="0" i="0" dirty="0">
                <a:solidFill>
                  <a:srgbClr val="2B5187"/>
                </a:solidFill>
                <a:latin typeface="Roboto Mono"/>
              </a:rPr>
              <a:t>20260501.ppdc-ases.txt.bz2</a:t>
            </a:r>
            <a:r>
              <a:rPr sz="2100" b="0" i="0" dirty="0">
                <a:solidFill>
                  <a:srgbClr val="343A40"/>
                </a:solidFill>
                <a:latin typeface="Arial"/>
              </a:rPr>
              <a:t>, loaded as a black box.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7360920"/>
            <a:ext cx="8229600" cy="1097280"/>
          </a:xfrm>
          <a:prstGeom prst="rect">
            <a:avLst/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08760" y="754380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You </a:t>
            </a:r>
            <a:r>
              <a:rPr sz="1800" b="1" i="1">
                <a:solidFill>
                  <a:srgbClr val="2B5187"/>
                </a:solidFill>
                <a:latin typeface="Arial"/>
              </a:rPr>
              <a:t>use</a:t>
            </a:r>
            <a:r>
              <a:rPr sz="1800" b="0" i="0">
                <a:solidFill>
                  <a:srgbClr val="343A40"/>
                </a:solidFill>
                <a:latin typeface="Arial"/>
              </a:rPr>
              <a:t> the precomputed cone file here; </a:t>
            </a:r>
            <a:r>
              <a:rPr sz="1800" b="1" i="1">
                <a:solidFill>
                  <a:srgbClr val="2B5187"/>
                </a:solidFill>
                <a:latin typeface="Arial"/>
              </a:rPr>
              <a:t>how</a:t>
            </a:r>
            <a:r>
              <a:rPr sz="1800" b="0" i="0">
                <a:solidFill>
                  <a:srgbClr val="343A40"/>
                </a:solidFill>
                <a:latin typeface="Arial"/>
              </a:rPr>
              <a:t> relationships &amp; cones are inferred is Block 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34181" y="7498079"/>
            <a:ext cx="627190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graph shows the respective cone sizes for each AS</a:t>
            </a:r>
            <a:endParaRPr sz="1600" b="0" i="0" dirty="0">
              <a:solidFill>
                <a:srgbClr val="6C75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Picture 30" descr="https://asrank.caida.org/images/customer-cones.png">
            <a:extLst>
              <a:ext uri="{FF2B5EF4-FFF2-40B4-BE49-F238E27FC236}">
                <a16:creationId xmlns:a16="http://schemas.microsoft.com/office/drawing/2014/main" id="{E2B550DC-15A9-CD19-DA18-28D004B78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397" y="3828421"/>
            <a:ext cx="5686876" cy="322451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2 · TWO 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Owns vs. reaches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2304288"/>
            <a:ext cx="7717536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2706624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250" b="1" i="0">
                <a:solidFill>
                  <a:srgbClr val="212529"/>
                </a:solidFill>
                <a:latin typeface="Arial"/>
              </a:rPr>
              <a:t>Task 1 — origin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312724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what an AS owns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3941063"/>
            <a:ext cx="100584" cy="100584"/>
          </a:xfrm>
          <a:prstGeom prst="rect">
            <a:avLst/>
          </a:prstGeom>
          <a:solidFill>
            <a:srgbClr val="C2C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20240" y="388620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1" i="0">
                <a:solidFill>
                  <a:srgbClr val="212529"/>
                </a:solidFill>
                <a:latin typeface="Arial"/>
              </a:rPr>
              <a:t>Question: </a:t>
            </a:r>
            <a:r>
              <a:rPr sz="1900" b="0" i="0">
                <a:solidFill>
                  <a:srgbClr val="343A40"/>
                </a:solidFill>
                <a:latin typeface="Arial"/>
              </a:rPr>
              <a:t>who owns the space?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4809744"/>
            <a:ext cx="100584" cy="100584"/>
          </a:xfrm>
          <a:prstGeom prst="rect">
            <a:avLst/>
          </a:prstGeom>
          <a:solidFill>
            <a:srgbClr val="C2C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20240" y="475488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1" i="0">
                <a:solidFill>
                  <a:srgbClr val="212529"/>
                </a:solidFill>
                <a:latin typeface="Arial"/>
              </a:rPr>
              <a:t>Nested more-specifics: </a:t>
            </a:r>
            <a:r>
              <a:rPr sz="1900" b="0" i="0">
                <a:solidFill>
                  <a:srgbClr val="343A40"/>
                </a:solidFill>
                <a:latin typeface="Arial"/>
              </a:rPr>
              <a:t>subtracted (LPM)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5678424"/>
            <a:ext cx="100584" cy="100584"/>
          </a:xfrm>
          <a:prstGeom prst="rect">
            <a:avLst/>
          </a:prstGeom>
          <a:solidFill>
            <a:srgbClr val="C2C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0240" y="562356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1" i="0">
                <a:solidFill>
                  <a:srgbClr val="212529"/>
                </a:solidFill>
                <a:latin typeface="Arial"/>
              </a:rPr>
              <a:t>Method: </a:t>
            </a:r>
            <a:r>
              <a:rPr sz="1900" b="0" i="0">
                <a:solidFill>
                  <a:srgbClr val="343A40"/>
                </a:solidFill>
                <a:latin typeface="Arial"/>
              </a:rPr>
              <a:t>PyTricia children-subtraction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36024" y="2304288"/>
            <a:ext cx="7717536" cy="5120640"/>
          </a:xfrm>
          <a:prstGeom prst="rect">
            <a:avLst/>
          </a:prstGeom>
          <a:solidFill>
            <a:srgbClr val="E9EFF7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47504" y="2706624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250" b="1" i="0">
                <a:solidFill>
                  <a:srgbClr val="2B5187"/>
                </a:solidFill>
                <a:latin typeface="Arial"/>
              </a:rPr>
              <a:t>Task 2 — cone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47504" y="312724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what an AS reaches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47504" y="3941063"/>
            <a:ext cx="100584" cy="100584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21824" y="388620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1" i="0">
                <a:solidFill>
                  <a:srgbClr val="212529"/>
                </a:solidFill>
                <a:latin typeface="Arial"/>
              </a:rPr>
              <a:t>Question: </a:t>
            </a:r>
            <a:r>
              <a:rPr sz="1900" b="0" i="0">
                <a:solidFill>
                  <a:srgbClr val="343A40"/>
                </a:solidFill>
                <a:latin typeface="Arial"/>
              </a:rPr>
              <a:t>what does the cone reach?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47504" y="4809744"/>
            <a:ext cx="100584" cy="100584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21824" y="475488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1" i="0">
                <a:solidFill>
                  <a:srgbClr val="212529"/>
                </a:solidFill>
                <a:latin typeface="Arial"/>
              </a:rPr>
              <a:t>Nested more-specifics: </a:t>
            </a:r>
            <a:r>
              <a:rPr sz="1900" b="1" i="0">
                <a:solidFill>
                  <a:srgbClr val="BE4228"/>
                </a:solidFill>
                <a:latin typeface="Arial"/>
              </a:rPr>
              <a:t>NOT subtracted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47504" y="5678424"/>
            <a:ext cx="100584" cy="100584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21824" y="562356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900" b="1" i="0">
                <a:solidFill>
                  <a:srgbClr val="212529"/>
                </a:solidFill>
                <a:latin typeface="Arial"/>
              </a:rPr>
              <a:t>Method: </a:t>
            </a:r>
            <a:r>
              <a:rPr sz="1900" b="0" i="0">
                <a:solidFill>
                  <a:srgbClr val="343A40"/>
                </a:solidFill>
                <a:latin typeface="Arial"/>
              </a:rPr>
              <a:t>sorted-interval sweep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: Code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2 · 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Counting the cone: prefix sum + address sweep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286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2B5187"/>
                </a:solidFill>
                <a:latin typeface="Arial"/>
              </a:rPr>
              <a:t>Cone prefix count</a:t>
            </a:r>
            <a:r>
              <a:rPr sz="2000" b="0" i="0">
                <a:solidFill>
                  <a:srgbClr val="343A40"/>
                </a:solidFill>
                <a:latin typeface="Arial"/>
              </a:rPr>
              <a:t> — sum members’ prefix counts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2788920"/>
            <a:ext cx="7589520" cy="1303401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34440" y="2788920"/>
            <a:ext cx="45720" cy="1303401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27048" y="3008376"/>
            <a:ext cx="7132320" cy="1303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cone_prefix_count[root] = sum(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asn_prefix_count.get(m, 0)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for m in members)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2860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000" b="1" i="0">
                <a:solidFill>
                  <a:srgbClr val="2B5187"/>
                </a:solidFill>
                <a:latin typeface="Arial"/>
              </a:rPr>
              <a:t>Cone address count</a:t>
            </a:r>
            <a:r>
              <a:rPr sz="2000" b="0" i="0">
                <a:solidFill>
                  <a:srgbClr val="343A40"/>
                </a:solidFill>
                <a:latin typeface="Arial"/>
              </a:rPr>
              <a:t> — merge nets into runs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2788920"/>
            <a:ext cx="7726679" cy="2554224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326880" y="2788920"/>
            <a:ext cx="45720" cy="2554224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19488" y="3008376"/>
            <a:ext cx="7269479" cy="2554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None/>
            </a:pPr>
            <a:r>
              <a:rPr sz="1500" b="0" i="0">
                <a:solidFill>
                  <a:srgbClr val="212529"/>
                </a:solidFill>
                <a:latin typeface="Roboto Mono"/>
              </a:rPr>
              <a:t>nets = sorted(member_nets, key=...)</a:t>
            </a:r>
          </a:p>
          <a:p>
            <a:pPr algn="l">
              <a:lnSpc>
                <a:spcPct val="122000"/>
              </a:lnSpc>
              <a:buNone/>
            </a:pPr>
            <a:r>
              <a:rPr sz="1500" b="0" i="0">
                <a:solidFill>
                  <a:srgbClr val="212529"/>
                </a:solidFill>
                <a:latin typeface="Roboto Mono"/>
              </a:rPr>
              <a:t>total, covered_end = 0, -1</a:t>
            </a:r>
          </a:p>
          <a:p>
            <a:pPr algn="l">
              <a:lnSpc>
                <a:spcPct val="122000"/>
              </a:lnSpc>
              <a:buNone/>
            </a:pPr>
            <a:r>
              <a:rPr sz="1500" b="0" i="0">
                <a:solidFill>
                  <a:srgbClr val="212529"/>
                </a:solidFill>
                <a:latin typeface="Roboto Mono"/>
              </a:rPr>
              <a:t>for net in nets:</a:t>
            </a:r>
          </a:p>
          <a:p>
            <a:pPr algn="l">
              <a:lnSpc>
                <a:spcPct val="122000"/>
              </a:lnSpc>
              <a:buNone/>
            </a:pPr>
            <a:r>
              <a:rPr sz="1500" b="0" i="0">
                <a:solidFill>
                  <a:srgbClr val="212529"/>
                </a:solidFill>
                <a:latin typeface="Roboto Mono"/>
              </a:rPr>
              <a:t>    start = int(net.network_address)</a:t>
            </a:r>
          </a:p>
          <a:p>
            <a:pPr algn="l">
              <a:lnSpc>
                <a:spcPct val="122000"/>
              </a:lnSpc>
              <a:buNone/>
            </a:pPr>
            <a:r>
              <a:rPr sz="1500" b="0" i="0">
                <a:solidFill>
                  <a:srgbClr val="212529"/>
                </a:solidFill>
                <a:latin typeface="Roboto Mono"/>
              </a:rPr>
              <a:t>    if start &gt; covered_end:</a:t>
            </a:r>
          </a:p>
          <a:p>
            <a:pPr algn="l">
              <a:lnSpc>
                <a:spcPct val="122000"/>
              </a:lnSpc>
              <a:buNone/>
            </a:pPr>
            <a:r>
              <a:rPr sz="1500" b="0" i="0">
                <a:solidFill>
                  <a:srgbClr val="212529"/>
                </a:solidFill>
                <a:latin typeface="Roboto Mono"/>
              </a:rPr>
              <a:t>        total += net.num_addresses</a:t>
            </a:r>
          </a:p>
          <a:p>
            <a:pPr algn="l">
              <a:lnSpc>
                <a:spcPct val="122000"/>
              </a:lnSpc>
              <a:buNone/>
            </a:pPr>
            <a:r>
              <a:rPr sz="1500" b="0" i="0">
                <a:solidFill>
                  <a:srgbClr val="212529"/>
                </a:solidFill>
                <a:latin typeface="Roboto Mono"/>
              </a:rPr>
              <a:t>        covered_end = start + \</a:t>
            </a:r>
          </a:p>
          <a:p>
            <a:pPr algn="l">
              <a:lnSpc>
                <a:spcPct val="122000"/>
              </a:lnSpc>
              <a:buNone/>
            </a:pPr>
            <a:r>
              <a:rPr sz="1500" b="0" i="0">
                <a:solidFill>
                  <a:srgbClr val="212529"/>
                </a:solidFill>
                <a:latin typeface="Roboto Mono"/>
              </a:rPr>
              <a:t>            net.num_addresses - 1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8869680"/>
            <a:ext cx="1581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900" b="0" i="1">
                <a:solidFill>
                  <a:srgbClr val="6C757D"/>
                </a:solidFill>
                <a:latin typeface="Arial"/>
              </a:rPr>
              <a:t>Within a cone we ask </a:t>
            </a:r>
            <a:r>
              <a:rPr sz="1900" b="0" i="1">
                <a:solidFill>
                  <a:srgbClr val="2B5187"/>
                </a:solidFill>
                <a:latin typeface="Arial"/>
              </a:rPr>
              <a:t>“is this reachable through me?”</a:t>
            </a:r>
            <a:r>
              <a:rPr sz="1900" b="0" i="1">
                <a:solidFill>
                  <a:srgbClr val="6C757D"/>
                </a:solidFill>
                <a:latin typeface="Arial"/>
              </a:rPr>
              <a:t> — so we do not subtract more-specifics. The deliberate opposite of Task 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2 ·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Cone metrics, and Q4 / Q5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418898"/>
              </p:ext>
            </p:extLst>
          </p:nvPr>
        </p:nvGraphicFramePr>
        <p:xfrm>
          <a:off x="1234440" y="2240280"/>
          <a:ext cx="8778240" cy="1773936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min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max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mean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median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2529"/>
                          </a:solidFill>
                          <a:latin typeface="Arial"/>
                        </a:rPr>
                        <a:t>Cone prefix count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43A40"/>
                          </a:solidFill>
                          <a:latin typeface="Arial"/>
                        </a:rPr>
                        <a:t>~8</a:t>
                      </a:r>
                      <a:r>
                        <a:rPr lang="en-US" sz="1800" b="0" dirty="0">
                          <a:solidFill>
                            <a:srgbClr val="343A40"/>
                          </a:solidFill>
                          <a:latin typeface="Arial"/>
                        </a:rPr>
                        <a:t>93</a:t>
                      </a:r>
                      <a:r>
                        <a:rPr sz="1800" b="0" dirty="0">
                          <a:solidFill>
                            <a:srgbClr val="343A40"/>
                          </a:solidFill>
                          <a:latin typeface="Arial"/>
                        </a:rPr>
                        <a:t>k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43A40"/>
                          </a:solidFill>
                          <a:latin typeface="Arial"/>
                        </a:rPr>
                        <a:t>~20</a:t>
                      </a:r>
                      <a:r>
                        <a:rPr lang="en-US" sz="1800" b="0" dirty="0">
                          <a:solidFill>
                            <a:srgbClr val="343A40"/>
                          </a:solidFill>
                          <a:latin typeface="Arial"/>
                        </a:rPr>
                        <a:t>3</a:t>
                      </a:r>
                      <a:endParaRPr sz="1800" b="0" dirty="0">
                        <a:solidFill>
                          <a:srgbClr val="343A40"/>
                        </a:solidFill>
                        <a:latin typeface="Arial"/>
                      </a:endParaRP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2529"/>
                          </a:solidFill>
                          <a:latin typeface="Arial"/>
                        </a:rPr>
                        <a:t>Cone address count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~2.35B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6C757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2B5187"/>
                          </a:solidFill>
                          <a:latin typeface="Arial"/>
                        </a:rPr>
                        <a:t>~1k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234440" y="5120640"/>
            <a:ext cx="15727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000" b="1" i="0">
                <a:solidFill>
                  <a:srgbClr val="2B5187"/>
                </a:solidFill>
                <a:latin typeface="Arial"/>
              </a:rPr>
              <a:t>Q4 — shape: </a:t>
            </a:r>
            <a:r>
              <a:rPr sz="2000" b="0" i="0">
                <a:solidFill>
                  <a:srgbClr val="343A40"/>
                </a:solidFill>
                <a:latin typeface="Arial"/>
              </a:rPr>
              <a:t>even more heavy-tailed (median cone 3; the top cone reaches hundreds of thousands).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6126480"/>
            <a:ext cx="15727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buNone/>
            </a:pPr>
            <a:r>
              <a:rPr sz="2000" b="1" i="0">
                <a:solidFill>
                  <a:srgbClr val="2B5187"/>
                </a:solidFill>
                <a:latin typeface="Arial"/>
              </a:rPr>
              <a:t>Q5 — why cone ≥ origin: </a:t>
            </a:r>
            <a:r>
              <a:rPr sz="2000" b="0" i="0">
                <a:solidFill>
                  <a:srgbClr val="343A40"/>
                </a:solidFill>
                <a:latin typeface="Arial"/>
              </a:rPr>
              <a:t>the cone is a superset of the AS itself (equal only for stubs). Providers reach customer prefixes they don’t originate — so cone count dwarfs origin count.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51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194560"/>
            <a:ext cx="8101583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351">
                <a:solidFill>
                  <a:srgbClr val="A9C2E4"/>
                </a:solidFill>
                <a:latin typeface="Arial"/>
              </a:rPr>
              <a:t>PART THREE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9464"/>
            <a:ext cx="8101583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750" b="0" i="0" spc="-315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617720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800" b="0" i="0" spc="-48" dirty="0">
                <a:solidFill>
                  <a:srgbClr val="FFFFFF"/>
                </a:solidFill>
                <a:latin typeface="Arial"/>
              </a:rPr>
              <a:t>From numbers to organizations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54864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550" b="0" i="0" dirty="0">
                <a:solidFill>
                  <a:srgbClr val="A9C2E4"/>
                </a:solidFill>
                <a:latin typeface="Arial"/>
              </a:rPr>
              <a:t>Who are the leaders — and why they rank where they 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3 · ORGS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Map ASNs to organizations (AS2Org)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35254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20624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Join the numeric leaders back to real-world orgs using CAIDA </a:t>
            </a:r>
            <a:r>
              <a:rPr sz="1800" b="0" i="0">
                <a:solidFill>
                  <a:srgbClr val="2B5187"/>
                </a:solidFill>
                <a:latin typeface="Roboto Mono"/>
              </a:rPr>
              <a:t>as2org.jsonl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(orgName, country, members).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26694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120640"/>
            <a:ext cx="8229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One organization can hold many ASNs — clustered from registry records.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0935267"/>
              </p:ext>
            </p:extLst>
          </p:nvPr>
        </p:nvGraphicFramePr>
        <p:xfrm>
          <a:off x="1234440" y="6400800"/>
          <a:ext cx="8503920" cy="23774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Kind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B5187"/>
                          </a:solidFill>
                          <a:latin typeface="Arial"/>
                        </a:rPr>
                        <a:t>Ranks high via</a:t>
                      </a:r>
                    </a:p>
                  </a:txBody>
                  <a:tcPr marL="146304" marR="109728" anchor="ctr">
                    <a:lnB w="19050" cap="flat">
                      <a:solidFill>
                        <a:srgbClr val="2B5187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2529"/>
                          </a:solidFill>
                          <a:latin typeface="Arial"/>
                        </a:rPr>
                        <a:t>Transit backbone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Lumen / L3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5187"/>
                          </a:solidFill>
                          <a:latin typeface="Arial"/>
                        </a:rPr>
                        <a:t>huge cone</a:t>
                      </a:r>
                    </a:p>
                  </a:txBody>
                  <a:tcPr marL="146304" marR="109728" anchor="ctr">
                    <a:lnT w="19050" cap="flat" cmpd="sng" algn="ctr">
                      <a:solidFill>
                        <a:srgbClr val="2B518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2529"/>
                          </a:solidFill>
                          <a:latin typeface="Arial"/>
                        </a:rPr>
                        <a:t>Cloud / content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Amazon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B5187"/>
                          </a:solidFill>
                          <a:latin typeface="Arial"/>
                        </a:rPr>
                        <a:t>own </a:t>
                      </a:r>
                      <a:r>
                        <a:rPr lang="en-US" sz="1800" b="0" dirty="0">
                          <a:solidFill>
                            <a:srgbClr val="2B5187"/>
                          </a:solidFill>
                          <a:latin typeface="Arial"/>
                        </a:rPr>
                        <a:t>prefixes / </a:t>
                      </a:r>
                      <a:r>
                        <a:rPr sz="1800" b="0" dirty="0">
                          <a:solidFill>
                            <a:srgbClr val="2B5187"/>
                          </a:solidFill>
                          <a:latin typeface="Arial"/>
                        </a:rPr>
                        <a:t>addresses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12529"/>
                          </a:solidFill>
                          <a:latin typeface="Arial"/>
                        </a:rPr>
                        <a:t>Legacy holder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43A40"/>
                          </a:solidFill>
                          <a:latin typeface="Arial"/>
                        </a:rPr>
                        <a:t>US DoD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B5187"/>
                          </a:solidFill>
                          <a:latin typeface="Arial"/>
                        </a:rPr>
                        <a:t>coarse </a:t>
                      </a:r>
                      <a:r>
                        <a:rPr lang="en-US" sz="1800" b="0" dirty="0">
                          <a:solidFill>
                            <a:srgbClr val="2B5187"/>
                          </a:solidFill>
                          <a:latin typeface="Arial"/>
                        </a:rPr>
                        <a:t>address </a:t>
                      </a:r>
                      <a:r>
                        <a:rPr sz="1800" b="0" dirty="0">
                          <a:solidFill>
                            <a:srgbClr val="2B5187"/>
                          </a:solidFill>
                          <a:latin typeface="Arial"/>
                        </a:rPr>
                        <a:t>blocks</a:t>
                      </a:r>
                    </a:p>
                  </a:txBody>
                  <a:tcPr marL="146304" marR="109728" anchor="ctr"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EE2E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EW: Code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3 ·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The rank-vector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206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42062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Rank each metric independently (rank 1 = highest).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120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51206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Union the top-3 ASNs across the four rank dicts.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6035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603504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Sort rows by each ASN’s </a:t>
            </a:r>
            <a:r>
              <a:rPr sz="2100" b="1" i="0">
                <a:solidFill>
                  <a:srgbClr val="212529"/>
                </a:solidFill>
                <a:latin typeface="Arial"/>
              </a:rPr>
              <a:t>sorted vector of ranks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— best first.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09760" y="4114800"/>
            <a:ext cx="7543800" cy="1830959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509760" y="4114800"/>
            <a:ext cx="45720" cy="1830959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02368" y="4334256"/>
            <a:ext cx="7086600" cy="1830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def ranked(d):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return {asn: r for r, (asn, _) in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    enumerate(sorted(d.items(),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        key=lambda x: x[1],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           reverse=True), start=1)}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7406640"/>
            <a:ext cx="15819120" cy="1051560"/>
          </a:xfrm>
          <a:prstGeom prst="rect">
            <a:avLst/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7607808"/>
            <a:ext cx="15544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00" b="1" i="0">
                <a:solidFill>
                  <a:srgbClr val="2B5187"/>
                </a:solidFill>
                <a:latin typeface="Roboto Mono"/>
              </a:rPr>
              <a:t>[1,1,3,4]</a:t>
            </a:r>
            <a:r>
              <a:rPr sz="1900" b="0" i="0">
                <a:solidFill>
                  <a:srgbClr val="343A40"/>
                </a:solidFill>
                <a:latin typeface="Arial"/>
              </a:rPr>
              <a:t> beats </a:t>
            </a:r>
            <a:r>
              <a:rPr sz="1900" b="1" i="0">
                <a:solidFill>
                  <a:srgbClr val="2B5187"/>
                </a:solidFill>
                <a:latin typeface="Roboto Mono"/>
              </a:rPr>
              <a:t>[1,2,2,3]</a:t>
            </a:r>
            <a:r>
              <a:rPr sz="1900" b="0" i="0">
                <a:solidFill>
                  <a:srgbClr val="343A40"/>
                </a:solidFill>
                <a:latin typeface="Arial"/>
              </a:rPr>
              <a:t> beats </a:t>
            </a:r>
            <a:r>
              <a:rPr sz="1900" b="1" i="0">
                <a:solidFill>
                  <a:srgbClr val="2B5187"/>
                </a:solidFill>
                <a:latin typeface="Roboto Mono"/>
              </a:rPr>
              <a:t>[2,2,3,9999]</a:t>
            </a:r>
            <a:r>
              <a:rPr sz="1900" b="0" i="0">
                <a:solidFill>
                  <a:srgbClr val="343A40"/>
                </a:solidFill>
                <a:latin typeface="Arial"/>
              </a:rPr>
              <a:t> — compare best rank, then next. Being #1 in two metrics beats #1 in one.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TASK 3 ·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Q6: one sentence per top-4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44398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297680"/>
            <a:ext cx="15087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Transit backbone — </a:t>
            </a:r>
            <a:r>
              <a:rPr sz="2100" b="0" i="0">
                <a:solidFill>
                  <a:srgbClr val="343A40"/>
                </a:solidFill>
                <a:latin typeface="Arial"/>
              </a:rPr>
              <a:t>ranks via cone (prefixes + addresses), needn’t own much itself.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40410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257800"/>
            <a:ext cx="15087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Cloud / content — </a:t>
            </a:r>
            <a:r>
              <a:rPr sz="2100" b="0" i="0">
                <a:solidFill>
                  <a:srgbClr val="343A40"/>
                </a:solidFill>
                <a:latin typeface="Arial"/>
              </a:rPr>
              <a:t>ranks via own address count (large hosting allocations).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636422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6217920"/>
            <a:ext cx="150876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Legacy holder — </a:t>
            </a:r>
            <a:r>
              <a:rPr sz="2100" b="0" i="0">
                <a:solidFill>
                  <a:srgbClr val="343A40"/>
                </a:solidFill>
                <a:latin typeface="Arial"/>
              </a:rPr>
              <a:t>ranks via address count from historic coarse blocks, modest cone.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7498079"/>
            <a:ext cx="1581912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54480" y="7699248"/>
            <a:ext cx="1536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900" b="0" i="1">
                <a:solidFill>
                  <a:srgbClr val="6C757D"/>
                </a:solidFill>
                <a:latin typeface="Arial"/>
              </a:rPr>
              <a:t>The exact four orgs and counts are </a:t>
            </a:r>
            <a:r>
              <a:rPr sz="1900" b="1" i="0">
                <a:solidFill>
                  <a:srgbClr val="BE4228"/>
                </a:solidFill>
                <a:latin typeface="Arial"/>
              </a:rPr>
              <a:t>[student computes]</a:t>
            </a:r>
            <a:r>
              <a:rPr sz="1900" b="0" i="1">
                <a:solidFill>
                  <a:srgbClr val="6C757D"/>
                </a:solidFill>
                <a:latin typeface="Arial"/>
              </a:rPr>
              <a:t> — name the mechanism, not just the org.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BEFORE YOU RUN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435254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4206240"/>
            <a:ext cx="15361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1" i="0">
                <a:solidFill>
                  <a:srgbClr val="BE4228"/>
                </a:solidFill>
                <a:latin typeface="Arial"/>
              </a:rPr>
              <a:t>Don’t double-count nested space — </a:t>
            </a:r>
            <a:r>
              <a:rPr sz="2100" b="0" i="0">
                <a:solidFill>
                  <a:srgbClr val="343A40"/>
                </a:solidFill>
                <a:latin typeface="Arial"/>
              </a:rPr>
              <a:t>total ≈ 3.1B, not ≈ 4.3B.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540410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5257800"/>
            <a:ext cx="15361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1" i="0">
                <a:solidFill>
                  <a:srgbClr val="BE4228"/>
                </a:solidFill>
                <a:latin typeface="Arial"/>
              </a:rPr>
              <a:t>Task 2 sweep does NOT subtract more-specifics — </a:t>
            </a:r>
            <a:r>
              <a:rPr sz="2100" b="0" i="0">
                <a:solidFill>
                  <a:srgbClr val="343A40"/>
                </a:solidFill>
                <a:latin typeface="Arial"/>
              </a:rPr>
              <a:t>the opposite of Task 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645566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6309359"/>
            <a:ext cx="15361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Use </a:t>
            </a:r>
            <a:r>
              <a:rPr sz="1800" b="0" i="0">
                <a:solidFill>
                  <a:srgbClr val="2B5187"/>
                </a:solidFill>
                <a:latin typeface="Roboto Mono"/>
              </a:rPr>
              <a:t>.update(origin_asns)</a:t>
            </a:r>
            <a:r>
              <a:rPr sz="2100" b="0" i="0">
                <a:solidFill>
                  <a:srgbClr val="343A40"/>
                </a:solidFill>
                <a:latin typeface="Arial"/>
              </a:rPr>
              <a:t> not </a:t>
            </a:r>
            <a:r>
              <a:rPr sz="1800" b="0" i="0">
                <a:solidFill>
                  <a:srgbClr val="2B5187"/>
                </a:solidFill>
                <a:latin typeface="Roboto Mono"/>
              </a:rPr>
              <a:t>.add()</a:t>
            </a:r>
            <a:r>
              <a:rPr sz="2100" b="0" i="0">
                <a:solidFill>
                  <a:srgbClr val="343A40"/>
                </a:solidFill>
                <a:latin typeface="Arial"/>
              </a:rPr>
              <a:t>; exclude MOAS; CCDF y = ASes with ≥ x (log–log).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7507223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72768" y="7360919"/>
            <a:ext cx="15361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Ranking unions top-3 across metrics, sorted by the rank vector.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ASSIGNMENT 2 · DUE BEGINNING OF 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25272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Roboto Mono"/>
              </a:rPr>
              <a:t>nids-bgp-control-plane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28600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Attribute address space from the global routing table, measure cone reach, and rank the leaders — the BGP section of your module.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3712463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72768" y="356616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50" b="0" i="0">
                <a:solidFill>
                  <a:srgbClr val="343A40"/>
                </a:solidFill>
                <a:latin typeface="Arial"/>
              </a:rPr>
              <a:t>Task 1 — origin map, MOAS %, LPM address counts, origin CCDF (Q1–Q3)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435254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72768" y="420624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50" b="0" i="0">
                <a:solidFill>
                  <a:srgbClr val="343A40"/>
                </a:solidFill>
                <a:latin typeface="Arial"/>
              </a:rPr>
              <a:t>Task 2 — customer-cone prefix &amp; address counts (Q4–Q5)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499262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72768" y="484632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50" b="0" i="0">
                <a:solidFill>
                  <a:srgbClr val="343A40"/>
                </a:solidFill>
                <a:latin typeface="Arial"/>
              </a:rPr>
              <a:t>Task 3 — top-3-in-any-metric table joined to AS2Org (Q6)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563270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72768" y="548640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50" b="0" i="0">
                <a:solidFill>
                  <a:srgbClr val="343A40"/>
                </a:solidFill>
                <a:latin typeface="Arial"/>
              </a:rPr>
              <a:t>Finish all notebook tasks and questions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573000" y="2249424"/>
            <a:ext cx="4480560" cy="640080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938760" y="2606040"/>
            <a:ext cx="41148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1" i="0" spc="180">
                <a:solidFill>
                  <a:srgbClr val="2B5187"/>
                </a:solidFill>
                <a:latin typeface="Arial"/>
              </a:rPr>
              <a:t>MODULE MILESTONE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38760" y="3008376"/>
            <a:ext cx="3886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Becomes the BGP / control-plane section of your own training module.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938760" y="4526280"/>
            <a:ext cx="3749039" cy="10972"/>
          </a:xfrm>
          <a:prstGeom prst="rect">
            <a:avLst/>
          </a:prstGeom>
          <a:solidFill>
            <a:srgbClr val="DE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938760" y="4800600"/>
            <a:ext cx="411480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1" i="0" spc="180">
                <a:solidFill>
                  <a:srgbClr val="6C757D"/>
                </a:solidFill>
                <a:latin typeface="Arial"/>
              </a:rPr>
              <a:t>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38760" y="5193792"/>
            <a:ext cx="3931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buNone/>
            </a:pPr>
            <a:r>
              <a:rPr sz="1800" b="0" i="0">
                <a:solidFill>
                  <a:srgbClr val="212529"/>
                </a:solidFill>
                <a:latin typeface="Roboto Mono"/>
              </a:rPr>
              <a:t>github.com/CAIDA/
nids-bgp-control-plane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BEFORE NEXT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This week, in five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81560" y="877824"/>
            <a:ext cx="45720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buNone/>
            </a:pPr>
            <a:r>
              <a:rPr sz="1800" b="0" i="0" spc="108">
                <a:solidFill>
                  <a:srgbClr val="212529"/>
                </a:solidFill>
                <a:latin typeface="Arial"/>
              </a:rPr>
              <a:t>WEEK 2 · BUILDING BLOCK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2523744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2377440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50" b="0" i="0">
                <a:solidFill>
                  <a:srgbClr val="343A40"/>
                </a:solidFill>
                <a:latin typeface="Arial"/>
              </a:rPr>
              <a:t>Open the notebook on NRP JupyterHub (</a:t>
            </a:r>
            <a:r>
              <a:rPr sz="1700" b="0" i="0">
                <a:solidFill>
                  <a:srgbClr val="2B5187"/>
                </a:solidFill>
                <a:latin typeface="Roboto Mono"/>
              </a:rPr>
              <a:t>jupyterhub-west.nrp-nautilus.io</a:t>
            </a:r>
            <a:r>
              <a:rPr sz="1950" b="0" i="0">
                <a:solidFill>
                  <a:srgbClr val="343A40"/>
                </a:solidFill>
                <a:latin typeface="Arial"/>
              </a:rPr>
              <a:t>).</a:t>
            </a:r>
          </a:p>
        </p:txBody>
      </p:sp>
      <p:sp>
        <p:nvSpPr>
          <p:cNvPr id="8" name="Rectangle 7"/>
          <p:cNvSpPr/>
          <p:nvPr/>
        </p:nvSpPr>
        <p:spPr>
          <a:xfrm>
            <a:off x="1234440" y="3090672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72768" y="2944368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50" b="0" i="0">
                <a:solidFill>
                  <a:srgbClr val="343A40"/>
                </a:solidFill>
                <a:latin typeface="Arial"/>
              </a:rPr>
              <a:t>Work Tasks 1–3; replace each </a:t>
            </a:r>
            <a:r>
              <a:rPr sz="1700" b="0" i="0">
                <a:solidFill>
                  <a:srgbClr val="2B5187"/>
                </a:solidFill>
                <a:latin typeface="Roboto Mono"/>
              </a:rPr>
              <a:t># YOUR CODE HERE</a:t>
            </a:r>
            <a:r>
              <a:rPr sz="1950" b="0" i="0">
                <a:solidFill>
                  <a:srgbClr val="343A40"/>
                </a:solidFill>
                <a:latin typeface="Arial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3657600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2768" y="3511296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50" b="0" i="0">
                <a:solidFill>
                  <a:srgbClr val="343A40"/>
                </a:solidFill>
                <a:latin typeface="Arial"/>
              </a:rPr>
              <a:t>Finish the assignment by the beginning of Week 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4224528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72768" y="4078224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50" b="0" i="0">
                <a:solidFill>
                  <a:srgbClr val="343A40"/>
                </a:solidFill>
                <a:latin typeface="Arial"/>
              </a:rPr>
              <a:t>Attend the plenary — or catch up; materials are posted.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" y="4791456"/>
            <a:ext cx="128016" cy="128016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72768" y="4645152"/>
            <a:ext cx="107899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buNone/>
            </a:pPr>
            <a:r>
              <a:rPr sz="1950" b="0" i="0">
                <a:solidFill>
                  <a:srgbClr val="343A40"/>
                </a:solidFill>
                <a:latin typeface="Arial"/>
              </a:rPr>
              <a:t>Use the hands-on hour and mentors for infrastructure help.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573000" y="2249424"/>
            <a:ext cx="4480560" cy="228600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93040" y="2569464"/>
            <a:ext cx="42062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1" i="0" spc="180">
                <a:solidFill>
                  <a:srgbClr val="2B5187"/>
                </a:solidFill>
                <a:latin typeface="Arial"/>
              </a:rPr>
              <a:t>OPTIONAL BACKGROUND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93040" y="2971800"/>
            <a:ext cx="40233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RouteViews &amp; MRT background; CAIDA AS Rank notes on customer cones — context, returns in Block 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02184" y="4937760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1" i="0">
                <a:solidFill>
                  <a:srgbClr val="212529"/>
                </a:solidFill>
                <a:latin typeface="Arial"/>
              </a:rPr>
              <a:t>Questions</a:t>
            </a:r>
            <a:r>
              <a:rPr sz="1800" b="0" i="0">
                <a:solidFill>
                  <a:srgbClr val="343A40"/>
                </a:solidFill>
                <a:latin typeface="Arial"/>
              </a:rPr>
              <a:t>  ·  Mattermost (fastest)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02184" y="532180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0000EE"/>
                </a:solidFill>
                <a:latin typeface="Arial"/>
              </a:rPr>
              <a:t>training-program-info@caida.org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2194560"/>
            <a:ext cx="10268712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351">
                <a:solidFill>
                  <a:srgbClr val="6C757D"/>
                </a:solidFill>
                <a:latin typeface="Arial"/>
              </a:rPr>
              <a:t>APPENDIX · FOR SELF-STUDY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569464"/>
            <a:ext cx="1026871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750" b="0" i="0" spc="-315">
                <a:solidFill>
                  <a:srgbClr val="A9C2E4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617720"/>
            <a:ext cx="9601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800" b="0" i="0" spc="-48">
                <a:solidFill>
                  <a:srgbClr val="FFFFFF"/>
                </a:solidFill>
                <a:latin typeface="Arial"/>
              </a:rPr>
              <a:t>Supporting detail, not covered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612648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550" b="0" i="0">
                <a:solidFill>
                  <a:srgbClr val="6C757D"/>
                </a:solidFill>
                <a:latin typeface="Arial"/>
              </a:rPr>
              <a:t>A few slides so the deck stands on its own.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APPENDIX · ADDRESS 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Longest-prefix match, three levels deep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377440"/>
            <a:ext cx="9509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Prefixes nest arbitrarily deep. Each address must be credited once, to the most-specific prefix that covers it, so a provider’s block is not counted on top of the customer more-specifics inside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4023360"/>
            <a:ext cx="95097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2100" b="0" i="0">
                <a:solidFill>
                  <a:srgbClr val="343A40"/>
                </a:solidFill>
                <a:latin typeface="Arial"/>
              </a:rPr>
              <a:t>Subtract direct children only. With A ⊃ B ⊃ C: A subtracts B (B already contains C), and B separately subtracts C. If A also subtracted C, A would be undercounted — C would be removed twice.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5852160"/>
            <a:ext cx="8686800" cy="1830959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34440" y="5852160"/>
            <a:ext cx="45720" cy="1830959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27048" y="6071616"/>
            <a:ext cx="8229600" cy="1830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6C757D"/>
                </a:solidFill>
                <a:latin typeface="Roboto Mono"/>
              </a:rPr>
              <a:t>A = 10.0.0.0/8    (16,777,216)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6C757D"/>
                </a:solidFill>
                <a:latin typeface="Roboto Mono"/>
              </a:rPr>
              <a:t>B = 10.1.0.0/16   (65,536, in A)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 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A = 16,777,216 - 65,536 = 16,711,680</a:t>
            </a:r>
          </a:p>
          <a:p>
            <a:pPr algn="l">
              <a:lnSpc>
                <a:spcPct val="122000"/>
              </a:lnSpc>
              <a:buNone/>
            </a:pPr>
            <a:r>
              <a:rPr sz="1550" b="0" i="0">
                <a:solidFill>
                  <a:srgbClr val="212529"/>
                </a:solidFill>
                <a:latin typeface="Roboto Mono"/>
              </a:rPr>
              <a:t>B = 65,536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46536" y="3904487"/>
            <a:ext cx="5907024" cy="3657600"/>
          </a:xfrm>
          <a:prstGeom prst="rect">
            <a:avLst/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21440" y="4297680"/>
            <a:ext cx="5120640" cy="2834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B51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04320" y="440740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2B5187"/>
                </a:solidFill>
                <a:latin typeface="Roboto Mono"/>
              </a:rPr>
              <a:t>/8  =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61520" y="4937760"/>
            <a:ext cx="3657600" cy="1828800"/>
          </a:xfrm>
          <a:prstGeom prst="rect">
            <a:avLst/>
          </a:prstGeom>
          <a:solidFill>
            <a:srgbClr val="E9EFF7"/>
          </a:solidFill>
          <a:ln w="15875">
            <a:solidFill>
              <a:srgbClr val="2B51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4400" y="50292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2B5187"/>
                </a:solidFill>
                <a:latin typeface="Roboto Mono"/>
              </a:rPr>
              <a:t>/16 =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710160" y="5577840"/>
            <a:ext cx="2194560" cy="914400"/>
          </a:xfrm>
          <a:prstGeom prst="rect">
            <a:avLst/>
          </a:prstGeom>
          <a:solidFill>
            <a:srgbClr val="2B5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710160" y="58521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Roboto Mono"/>
              </a:rPr>
              <a:t>/24 =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34440" y="841248"/>
            <a:ext cx="1097280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950" b="1" i="0" spc="273">
                <a:solidFill>
                  <a:srgbClr val="A9C2E4"/>
                </a:solidFill>
                <a:latin typeface="Arial"/>
              </a:rPr>
              <a:t>APPENDIX ·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1252728"/>
            <a:ext cx="17007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4650" b="0" i="0" spc="-46">
                <a:solidFill>
                  <a:srgbClr val="2B5187"/>
                </a:solidFill>
                <a:latin typeface="Arial"/>
              </a:rPr>
              <a:t>Advanced terms and acronyms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02536"/>
            <a:ext cx="1645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1950" b="0" i="0">
                <a:solidFill>
                  <a:srgbClr val="6C757D"/>
                </a:solidFill>
                <a:latin typeface="Arial"/>
              </a:rPr>
              <a:t>Program-, platform-, and research-specific terms used in this deck. (General terms like IPv4, BGP, AS, CIDR omitted.)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679192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 dirty="0">
                <a:solidFill>
                  <a:srgbClr val="2B5187"/>
                </a:solidFill>
                <a:latin typeface="Arial"/>
              </a:rPr>
              <a:t>AS2Org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044952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CAIDA dataset mapping ASNs to organizations (orgName, country, members).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712464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bgpkit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078224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Toolkit that parses MRT routing dumps into Python objects.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745736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CCDF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5111496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Complementary CDF: for each x, the count of items with value ≥ 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779008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customer cone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6144768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Root AS plus all ASes reachable via provider→customer links.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6812279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LPM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717804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Longest-prefix match: credit an address to its most-specific covering prefix.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7845552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MOAS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8211312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Multi-Origin AS: one prefix announced by more than one origin 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8" y="2679192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MRT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3044952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Multi-Threaded Routing Toolkit — binary format for archived routing tables.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3712464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origin 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4078224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The last ASN in a BGP path — who announced the prefix.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8048" y="4745736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OSDF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5111496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Open Science Data Federation — staging path used to fetch the RIB.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5779008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PPDC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6144768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Per-AS customer-cone membership file (provider→customer derived).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6812279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RIB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8048" y="717804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Routing Information Base — a collector’s snapshot of received routes.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7845552"/>
            <a:ext cx="8275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sz="2100" b="1" i="0">
                <a:solidFill>
                  <a:srgbClr val="2B5187"/>
                </a:solidFill>
                <a:latin typeface="Arial"/>
              </a:rPr>
              <a:t>RouteViews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8048" y="8211312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buNone/>
            </a:pPr>
            <a:r>
              <a:rPr sz="1800" b="0" i="0">
                <a:solidFill>
                  <a:srgbClr val="343A40"/>
                </a:solidFill>
                <a:latin typeface="Arial"/>
              </a:rPr>
              <a:t>Univ. of Oregon project archiving BGP tables from many collectors.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9592056"/>
            <a:ext cx="548640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6C757D"/>
                </a:solidFill>
                <a:latin typeface="Arial"/>
              </a:rPr>
              <a:t>ESCALATE Training Program · Summer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3392</Words>
  <Application>Microsoft Macintosh PowerPoint</Application>
  <PresentationFormat>Custom</PresentationFormat>
  <Paragraphs>428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Huffaker, Bradley</cp:lastModifiedBy>
  <cp:revision>4</cp:revision>
  <dcterms:created xsi:type="dcterms:W3CDTF">2013-01-27T09:14:16Z</dcterms:created>
  <dcterms:modified xsi:type="dcterms:W3CDTF">2026-06-23T21:04:04Z</dcterms:modified>
  <cp:category/>
</cp:coreProperties>
</file>