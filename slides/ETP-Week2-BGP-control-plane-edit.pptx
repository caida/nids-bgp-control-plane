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C04EB-64D4-4156-AA49-35793A7AE631}" v="5" dt="2026-06-23T18:45:57.734"/>
    <p1510:client id="{CDF513A1-B255-4101-BE79-ECF23538FE28}" v="8" dt="2026-06-23T18:25:11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9"/>
    <p:restoredTop sz="94658"/>
  </p:normalViewPr>
  <p:slideViewPr>
    <p:cSldViewPr snapToGrid="0" snapToObjects="1">
      <p:cViewPr varScale="1">
        <p:scale>
          <a:sx n="80" d="100"/>
          <a:sy n="80" d="100"/>
        </p:scale>
        <p:origin x="7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Ma" userId="76ce3eca6332f494" providerId="LiveId" clId="{321A1A51-A02B-408D-8854-C08751FFD88A}"/>
    <pc:docChg chg="undo custSel modSld">
      <pc:chgData name="Alex Ma" userId="76ce3eca6332f494" providerId="LiveId" clId="{321A1A51-A02B-408D-8854-C08751FFD88A}" dt="2026-06-23T18:46:02.978" v="24" actId="1076"/>
      <pc:docMkLst>
        <pc:docMk/>
      </pc:docMkLst>
      <pc:sldChg chg="addSp modSp mod">
        <pc:chgData name="Alex Ma" userId="76ce3eca6332f494" providerId="LiveId" clId="{321A1A51-A02B-408D-8854-C08751FFD88A}" dt="2026-06-23T18:42:08.121" v="13" actId="1076"/>
        <pc:sldMkLst>
          <pc:docMk/>
          <pc:sldMk cId="0" sldId="265"/>
        </pc:sldMkLst>
        <pc:spChg chg="mod">
          <ac:chgData name="Alex Ma" userId="76ce3eca6332f494" providerId="LiveId" clId="{321A1A51-A02B-408D-8854-C08751FFD88A}" dt="2026-06-23T18:41:44.099" v="8" actId="20577"/>
          <ac:spMkLst>
            <pc:docMk/>
            <pc:sldMk cId="0" sldId="265"/>
            <ac:spMk id="19" creationId="{00000000-0000-0000-0000-000000000000}"/>
          </ac:spMkLst>
        </pc:spChg>
        <pc:spChg chg="add mod">
          <ac:chgData name="Alex Ma" userId="76ce3eca6332f494" providerId="LiveId" clId="{321A1A51-A02B-408D-8854-C08751FFD88A}" dt="2026-06-23T18:42:08.121" v="13" actId="1076"/>
          <ac:spMkLst>
            <pc:docMk/>
            <pc:sldMk cId="0" sldId="265"/>
            <ac:spMk id="21" creationId="{69B8F81A-C822-F4BE-DAFA-0A44048C396C}"/>
          </ac:spMkLst>
        </pc:spChg>
      </pc:sldChg>
      <pc:sldChg chg="addSp delSp modSp mod">
        <pc:chgData name="Alex Ma" userId="76ce3eca6332f494" providerId="LiveId" clId="{321A1A51-A02B-408D-8854-C08751FFD88A}" dt="2026-06-23T18:46:02.978" v="24" actId="1076"/>
        <pc:sldMkLst>
          <pc:docMk/>
          <pc:sldMk cId="0" sldId="268"/>
        </pc:sldMkLst>
        <pc:spChg chg="add del">
          <ac:chgData name="Alex Ma" userId="76ce3eca6332f494" providerId="LiveId" clId="{321A1A51-A02B-408D-8854-C08751FFD88A}" dt="2026-06-23T18:44:10.211" v="17" actId="22"/>
          <ac:spMkLst>
            <pc:docMk/>
            <pc:sldMk cId="0" sldId="268"/>
            <ac:spMk id="13" creationId="{31F5ADBA-8EB0-84AF-D0E4-33EAF1F8C966}"/>
          </ac:spMkLst>
        </pc:spChg>
        <pc:spChg chg="add mod">
          <ac:chgData name="Alex Ma" userId="76ce3eca6332f494" providerId="LiveId" clId="{321A1A51-A02B-408D-8854-C08751FFD88A}" dt="2026-06-23T18:46:02.978" v="24" actId="1076"/>
          <ac:spMkLst>
            <pc:docMk/>
            <pc:sldMk cId="0" sldId="268"/>
            <ac:spMk id="15" creationId="{62F9A382-293C-2C78-331B-BFB907E7A072}"/>
          </ac:spMkLst>
        </pc:spChg>
        <pc:picChg chg="add mod">
          <ac:chgData name="Alex Ma" userId="76ce3eca6332f494" providerId="LiveId" clId="{321A1A51-A02B-408D-8854-C08751FFD88A}" dt="2026-06-23T18:45:15.342" v="21" actId="1076"/>
          <ac:picMkLst>
            <pc:docMk/>
            <pc:sldMk cId="0" sldId="268"/>
            <ac:picMk id="14" creationId="{AB78219E-C2BF-9EEE-D14E-618FC90969C0}"/>
          </ac:picMkLst>
        </pc:picChg>
      </pc:sldChg>
      <pc:sldChg chg="modSp mod">
        <pc:chgData name="Alex Ma" userId="76ce3eca6332f494" providerId="LiveId" clId="{321A1A51-A02B-408D-8854-C08751FFD88A}" dt="2026-06-23T18:43:09.978" v="14" actId="6549"/>
        <pc:sldMkLst>
          <pc:docMk/>
          <pc:sldMk cId="0" sldId="271"/>
        </pc:sldMkLst>
        <pc:spChg chg="mod">
          <ac:chgData name="Alex Ma" userId="76ce3eca6332f494" providerId="LiveId" clId="{321A1A51-A02B-408D-8854-C08751FFD88A}" dt="2026-06-23T18:43:09.978" v="14" actId="6549"/>
          <ac:spMkLst>
            <pc:docMk/>
            <pc:sldMk cId="0" sldId="271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41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Infrastructure-hour lab background for the </a:t>
            </a:r>
            <a:r>
              <a:rPr dirty="0" err="1"/>
              <a:t>nids</a:t>
            </a:r>
            <a:r>
              <a:rPr dirty="0"/>
              <a:t>-</a:t>
            </a:r>
            <a:r>
              <a:rPr dirty="0" err="1"/>
              <a:t>bgp</a:t>
            </a:r>
            <a:r>
              <a:rPr dirty="0"/>
              <a:t>-control-plane assignment. Three tasks: origin AS / address attribution, customer-cone reach, and ranking joined to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lab is Block 2, BGP at scale. Task 2 (customer cones) borrows from Block 4 — flagged on the cone slide as a forward-pointer; the full relationships/cones treatment lands in Block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Orient, don't re-teach: this bridges Block 1's topology view into Block 2's address-space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Part one: origin-AS attribution and address counting (Task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BGP basics are INTERMEDIATE for this cohort (median 3) — brief grounding, then move to address space. Emphasize the </a:t>
            </a:r>
            <a:r>
              <a:rPr dirty="0" err="1"/>
              <a:t>topology→address-space</a:t>
            </a:r>
            <a:r>
              <a:rPr dirty="0"/>
              <a:t>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Names + identifiers in Roboto Mono. </a:t>
            </a:r>
            <a:r>
              <a:rPr dirty="0" err="1"/>
              <a:t>RouteViews</a:t>
            </a:r>
            <a:r>
              <a:rPr dirty="0"/>
              <a:t>/MRT confirmed snapshot route-views3 / 2026.03. IODA is an optional cross-check, not 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origin_asns</a:t>
            </a:r>
            <a:r>
              <a:rPr dirty="0"/>
              <a:t> is a set in </a:t>
            </a:r>
            <a:r>
              <a:rPr dirty="0" err="1"/>
              <a:t>bgpkit</a:t>
            </a:r>
            <a:r>
              <a:rPr dirty="0"/>
              <a:t> — usually one ASN, sometimes several. Several = MOAS (next).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Task 1 needs only the origin (last hop). The full path's link structure is what CAIDA uses upstream to build the cone file loaded in Task 2 — not reconstructed in this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Q2 asks for the MOAS percentage — real value ≈ 0.4%. If a student reports 10%+, the MOAS test is wrong (e.g. counting peers, not origins).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Plants the seed for Q3 (divergence). CIDR math is INTERMEDIATE; keep it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Hardest correctness point in the lab. Walk the 3-level case slowly (also in the appendix).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gotchas: children() includes the prefix itself; filter to direct children. Off-by-billions means nested space double-counted.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Each point means “this many ASes have at least x.” Stress at least. CCDF is lab-specific — teach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Mean 14 vs median 2 is the Q1 headline. Calibration figures real but rounded; exact answers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Part two: customer cones (Task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Root is in its own cone → a stub's cone is just itself → cone == origin for stubs. Anchors Q5.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dual-method distinction is the biggest correctness gap. Owns (subtract) vs reaches (don't subtract).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Address sweep merges sorted intervals; no more-specific subtraction.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Q5 hinges on superset → cone ≥ origin, equal only for stubs. Largest origin ≈14.4k vs largest cone ≈882k.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Part three: ranking and AS2Org (Task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Leader TYPES, not the answer key. Real ranked table and counts are [student computes].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rank-vector sort is what trips students up. #1 in two metrics outranks #1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good Q6 names the mechanism (transit vs ownership vs legacy), not just the org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Run this before students leave for </a:t>
            </a:r>
            <a:r>
              <a:rPr dirty="0" err="1"/>
              <a:t>JupyterHub</a:t>
            </a:r>
            <a:r>
              <a:rPr dirty="0"/>
              <a:t>. Orange marks the two costliest correctness traps.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Assignment structure identical every week. Slug + repo in Roboto Mono. Authoritative grading lives in the Claude Code workflow,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Predictable close. Confirm NRP access before the session, not during. Questions line kept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Everything after this is self-study.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Self-study detail for the LPM rule; denser text is fine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Advanced terms only; alphabetized; two-column reflow.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1234440" y="1426464"/>
            <a:ext cx="87965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12">
                <a:solidFill>
                  <a:srgbClr val="A9C2E4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1956816"/>
            <a:ext cx="8778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850" b="0" i="0" spc="-88">
                <a:solidFill>
                  <a:srgbClr val="212529"/>
                </a:solidFill>
                <a:latin typeface="Arial"/>
              </a:rPr>
              <a:t>BGP Control Plane 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6052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550" b="0" i="0">
                <a:solidFill>
                  <a:srgbClr val="343A40"/>
                </a:solidFill>
                <a:latin typeface="Arial"/>
              </a:rPr>
              <a:t>Week 2: from the global routing table to </a:t>
            </a:r>
            <a:r>
              <a:rPr sz="2550" b="1" i="0">
                <a:solidFill>
                  <a:srgbClr val="2B5187"/>
                </a:solidFill>
                <a:latin typeface="Arial"/>
              </a:rPr>
              <a:t>who owns</a:t>
            </a:r>
            <a:r>
              <a:rPr sz="2550" b="0" i="0">
                <a:solidFill>
                  <a:srgbClr val="343A40"/>
                </a:solidFill>
                <a:latin typeface="Arial"/>
              </a:rPr>
              <a:t> and </a:t>
            </a:r>
            <a:r>
              <a:rPr sz="2550" b="1" i="0">
                <a:solidFill>
                  <a:srgbClr val="2B5187"/>
                </a:solidFill>
                <a:latin typeface="Arial"/>
              </a:rPr>
              <a:t>who reaches</a:t>
            </a:r>
            <a:r>
              <a:rPr sz="2550" b="0" i="0">
                <a:solidFill>
                  <a:srgbClr val="343A40"/>
                </a:solidFill>
                <a:latin typeface="Arial"/>
              </a:rPr>
              <a:t> the Internet’s address space.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7626096"/>
            <a:ext cx="265176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PLENARY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7991856"/>
            <a:ext cx="265176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 dirty="0">
                <a:solidFill>
                  <a:srgbClr val="212529"/>
                </a:solidFill>
                <a:latin typeface="Arial"/>
              </a:rPr>
              <a:t>Tue Jun 23 · 12:00 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7626096"/>
            <a:ext cx="192024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INSTRUCTOR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7991856"/>
            <a:ext cx="192024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kc claffy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7626096"/>
            <a:ext cx="5248656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SENIOR MENTORS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7991856"/>
            <a:ext cx="5248656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Ricky Mok · Bradley Huffaker · Rocky Chang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87784" y="7626096"/>
            <a:ext cx="320040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PROGRAM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87784" y="7991856"/>
            <a:ext cx="320040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Alex 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8897112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Supported by the NSF ESCALATE project · OAC-2519416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9F727-C99F-C8E0-438A-569EB0302544}"/>
              </a:ext>
            </a:extLst>
          </p:cNvPr>
          <p:cNvSpPr txBox="1"/>
          <p:nvPr/>
        </p:nvSpPr>
        <p:spPr>
          <a:xfrm>
            <a:off x="4572000" y="4960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C23AD3F-5475-8B2B-C177-5069A8013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950" y="1856232"/>
            <a:ext cx="8211957" cy="4621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THE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373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Ten building blocks — you are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53896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3896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Internet structure &amp; ASNs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286000"/>
            <a:ext cx="2990088" cy="3255264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2B5187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1" i="0">
                <a:solidFill>
                  <a:srgbClr val="212529"/>
                </a:solidFill>
                <a:latin typeface="Arial"/>
              </a:rPr>
              <a:t>BGP at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4383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Registries: WHOIS / IRR / RPKI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53928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73384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73384" y="3072384"/>
            <a:ext cx="2624328" cy="270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343A40"/>
                </a:solidFill>
                <a:latin typeface="Arial"/>
              </a:rPr>
              <a:t>Traceroute, ITDK</a:t>
            </a:r>
            <a:endParaRPr sz="1800" b="0" i="0" dirty="0">
              <a:solidFill>
                <a:srgbClr val="343A40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054328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273784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73784" y="3072384"/>
            <a:ext cx="2624328" cy="270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800" b="0" i="0">
                <a:solidFill>
                  <a:srgbClr val="343A40"/>
                </a:solidFill>
                <a:latin typeface="Arial"/>
              </a:rPr>
              <a:t>DNS</a:t>
            </a:r>
            <a:endParaRPr sz="1800" b="0" i="0" dirty="0">
              <a:solidFill>
                <a:srgbClr val="343A4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34440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53896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Geolocation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Network telescope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44383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Data fusion (IYP)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53928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73384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73384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Degradation forensics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054328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273784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73784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SDSC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9253728"/>
            <a:ext cx="17373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Weeks 1–8 build one block at a time; weeks 9–10 integrate them into a full forensic pipeline.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LAST WEEK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From topology to address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5084064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93776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Block 1 mapped Internet structure — ASes, ASNs, and how they interconnect.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742432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59612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You worked the topology view: </a:t>
            </a:r>
            <a:r>
              <a:rPr sz="2100" b="0" i="0">
                <a:solidFill>
                  <a:srgbClr val="212529"/>
                </a:solidFill>
                <a:latin typeface="Arial"/>
              </a:rPr>
              <a:t>who connects to whom.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00800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544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We deferred the next question: </a:t>
            </a:r>
            <a:r>
              <a:rPr sz="2100" b="0" i="0">
                <a:solidFill>
                  <a:srgbClr val="212529"/>
                </a:solidFill>
                <a:latin typeface="Arial"/>
              </a:rPr>
              <a:t>who owns and who reaches the address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97512" y="4672584"/>
            <a:ext cx="4956048" cy="2487168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99848" y="5074920"/>
            <a:ext cx="4553712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THIS WEEK BUILDS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9848" y="5513832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325" b="0" i="0">
                <a:solidFill>
                  <a:srgbClr val="212529"/>
                </a:solidFill>
                <a:latin typeface="Arial"/>
              </a:rPr>
              <a:t>We read the global routing table to attribute every prefix to an origin AS — then to the cone that reaches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From RIB to origin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Reading the global routing table to attribute address space.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94A2E3-0B51-9C93-1B0C-A56C9721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597" y="2453223"/>
            <a:ext cx="7914060" cy="44843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BGP as a system, not just a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BGP is 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protocol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for inter-domain routing — we analyze it as 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system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of global reachability.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Measurement: how do we see the global routing state at one moment?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3642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1792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RIB (Routing Information Base): a collector’s snapshot of every route it has received.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4206240"/>
            <a:ext cx="6400800" cy="2926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27080" y="4846320"/>
            <a:ext cx="24688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7080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0" i="0">
                <a:solidFill>
                  <a:srgbClr val="6C757D"/>
                </a:solidFill>
                <a:latin typeface="Arial"/>
              </a:rPr>
              <a:t>who talks
to whom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533120" y="5303520"/>
            <a:ext cx="731520" cy="0"/>
          </a:xfrm>
          <a:prstGeom prst="line">
            <a:avLst/>
          </a:prstGeom>
          <a:ln w="28575">
            <a:solidFill>
              <a:srgbClr val="2B51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356080" y="4846320"/>
            <a:ext cx="2377440" cy="9144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0" y="50292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who owns &amp;
reaches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1264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 i="1">
                <a:solidFill>
                  <a:srgbClr val="6C757D"/>
                </a:solidFill>
                <a:latin typeface="Arial"/>
              </a:rPr>
              <a:t>this module shifts the question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WHAT YOU’LL WORK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Datasets &amp; tools for this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246120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3246120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341071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RouteViews / MRT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3922776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Global routing tables archived by Univ. of Oregon collectors, as MRT (Multi-Threaded Routing Toolkit) binary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0" y="3520439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COLLECTOR · RIB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0" y="3886200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 dirty="0">
                <a:solidFill>
                  <a:srgbClr val="2B5187"/>
                </a:solidFill>
                <a:latin typeface="Roboto Mono"/>
              </a:rPr>
              <a:t>route-views3 · 2026.0</a:t>
            </a:r>
            <a:r>
              <a:rPr lang="en-US" dirty="0">
                <a:solidFill>
                  <a:srgbClr val="2B5187"/>
                </a:solidFill>
                <a:latin typeface="Roboto Mono"/>
              </a:rPr>
              <a:t>5</a:t>
            </a:r>
            <a:endParaRPr sz="1800" b="0" i="0" dirty="0">
              <a:solidFill>
                <a:srgbClr val="2B5187"/>
              </a:solidFill>
              <a:latin typeface="Roboto Mon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34440" y="4727448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34440" y="4727448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64208" y="48920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bgpkit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5404104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Decodes MRT so you iterate over routing records as Python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500176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53675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pybgpkit_parser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6208776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34440" y="6208776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64208" y="637336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CAIDA customer cones (PPDC)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6885432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Per-AS customer-cone membership, derived from provider→customer links.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64830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684885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20260501.ppdc-ases.txt.bz2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7690104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34440" y="7690104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64208" y="7854696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AS2Org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83667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Maps ASNs to real-world organizations and country.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0" y="796442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STORED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8330183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as2org.jsonl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Anatomy of a RIB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945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Each MRT record is one prefix announcement seen from one vantage point (</a:t>
            </a:r>
            <a:r>
              <a:rPr sz="2100" b="1" i="0">
                <a:solidFill>
                  <a:srgbClr val="212529"/>
                </a:solidFill>
                <a:latin typeface="Arial"/>
              </a:rPr>
              <a:t>peer</a:t>
            </a:r>
            <a:r>
              <a:rPr sz="2100" b="0" i="0">
                <a:solidFill>
                  <a:srgbClr val="343A40"/>
                </a:solidFill>
                <a:latin typeface="Arial"/>
              </a:rPr>
              <a:t>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34440" y="2926080"/>
          <a:ext cx="14264640" cy="35844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collector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route-views3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which collector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peer_asn</a:t>
                      </a:r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 / </a:t>
                      </a:r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peer_ip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10 / 12.3.2.1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the vantage point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as_path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10 724 8234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ASNs the route traversed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origin_asns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8234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last ASN — the originator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prefix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192.0.2.0/24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the announced CIDR block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34440" y="85953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343A40"/>
                </a:solidFill>
                <a:latin typeface="Arial"/>
              </a:rPr>
              <a:t>The </a:t>
            </a:r>
            <a:r>
              <a:rPr sz="2000" b="1" i="0">
                <a:solidFill>
                  <a:srgbClr val="2B5187"/>
                </a:solidFill>
                <a:latin typeface="Arial"/>
              </a:rPr>
              <a:t>origin AS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the last ASN — is what we attribute address space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AS path: origin and MOAS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Take the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last ASN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in the path — the origin AS, via </a:t>
            </a:r>
            <a:r>
              <a:rPr sz="1900" b="0" i="0">
                <a:solidFill>
                  <a:srgbClr val="2B5187"/>
                </a:solidFill>
                <a:latin typeface="Roboto Mono"/>
              </a:rPr>
              <a:t>elem.origin_asns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95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4924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Attribution: each prefix is credited to its origin AS — this drives the Task 1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547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40080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MOAS: the same prefix shows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different origins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across the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4114800"/>
            <a:ext cx="7543800" cy="160121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09760" y="4114800"/>
            <a:ext cx="45720" cy="16012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02368" y="4334256"/>
            <a:ext cx="7086600" cy="160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6C757D"/>
                </a:solidFill>
                <a:latin typeface="Roboto Mono"/>
              </a:rPr>
              <a:t># as_path: 10 724 8234  -&gt;  origin = last hop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for elem in bgpkit.Parser(url=url):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prefix_origins[elem.prefix] \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    .update(elem.origin_asns)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MOAS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Multi-Origin AS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261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11480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MOAS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prefix is announced from more than one AS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2669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2064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Benign: multi-homing, traffic engineering, mergers / acquisitions.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2727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12648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Security risk: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can signal a BGP hijack — an unauthorized AS announcing someone else’s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2786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713232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Task rule: exclude MOAS from per-AS counting (can’t attribute cleanly). Ballpark &lt; 1%.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4114800"/>
            <a:ext cx="7543800" cy="160121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09760" y="4114800"/>
            <a:ext cx="45720" cy="16012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02368" y="4334256"/>
            <a:ext cx="7086600" cy="160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if len(origins) &gt; 1: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moas_count += 1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else: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asn = next(iter(origins))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 dirty="0">
                <a:solidFill>
                  <a:srgbClr val="A9C2E4"/>
                </a:solidFill>
                <a:latin typeface="Arial"/>
              </a:rPr>
              <a:t>TASK 1 · ADDRESS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Prefixes vs. address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 dirty="0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 dirty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Counting </a:t>
            </a:r>
            <a:r>
              <a:rPr sz="2100" b="0" i="1">
                <a:solidFill>
                  <a:srgbClr val="212529"/>
                </a:solidFill>
                <a:latin typeface="Arial"/>
              </a:rPr>
              <a:t>prefixes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is coarse — prefix size varies exponentially.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498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035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000" b="0" i="0">
                <a:solidFill>
                  <a:srgbClr val="2B5187"/>
                </a:solidFill>
                <a:latin typeface="Roboto Mono"/>
              </a:rPr>
              <a:t>/8 → 16,777,216 addresses    /16 → 65,536    /24 →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6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A few coarse blocks can dwarf thousands of /24s — we need an </a:t>
            </a:r>
            <a:r>
              <a:rPr sz="2100" b="1" i="0" dirty="0">
                <a:solidFill>
                  <a:srgbClr val="212529"/>
                </a:solidFill>
                <a:latin typeface="Arial"/>
              </a:rPr>
              <a:t>address 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4114800"/>
            <a:ext cx="6309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0" y="4572000"/>
            <a:ext cx="5394960" cy="2194560"/>
          </a:xfrm>
          <a:prstGeom prst="rect">
            <a:avLst/>
          </a:prstGeom>
          <a:solidFill>
            <a:srgbClr val="E9EFF7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0" y="46817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2B5187"/>
                </a:solidFill>
                <a:latin typeface="Roboto Mono"/>
              </a:rPr>
              <a:t>/8 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0" y="5257800"/>
            <a:ext cx="32918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0" y="5349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B5187"/>
                </a:solidFill>
                <a:latin typeface="Roboto Mono"/>
              </a:rPr>
              <a:t>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0" y="5806440"/>
            <a:ext cx="1828800" cy="6858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0" y="5943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Roboto Mono"/>
              </a:rPr>
              <a:t>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7315200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0" i="0" dirty="0">
                <a:solidFill>
                  <a:srgbClr val="212529"/>
                </a:solidFill>
                <a:latin typeface="Roboto Mono"/>
              </a:rPr>
              <a:t>addresses = </a:t>
            </a:r>
            <a:r>
              <a:rPr lang="en-US" dirty="0"/>
              <a:t>2     </a:t>
            </a:r>
            <a:r>
              <a:rPr sz="1800" b="0" i="0" dirty="0">
                <a:solidFill>
                  <a:srgbClr val="6C757D"/>
                </a:solidFill>
                <a:latin typeface="Roboto Mono"/>
              </a:rPr>
              <a:t>  for a /n prefix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8F81A-C822-F4BE-DAFA-0A44048C396C}"/>
              </a:ext>
            </a:extLst>
          </p:cNvPr>
          <p:cNvSpPr txBox="1"/>
          <p:nvPr/>
        </p:nvSpPr>
        <p:spPr>
          <a:xfrm>
            <a:off x="13162171" y="7207031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(32−n)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Counting addresses: longest-prefix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Prefixes nest. Credit each address to the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most-specific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prefix covering it: take a prefix’s size and subtract the sizes of its direct children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931920"/>
            <a:ext cx="8284464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3931920"/>
            <a:ext cx="45720" cy="1463040"/>
          </a:xfrm>
          <a:prstGeom prst="rect">
            <a:avLst/>
          </a:prstGeom>
          <a:solidFill>
            <a:srgbClr val="BE4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4160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44">
                <a:solidFill>
                  <a:srgbClr val="BE4228"/>
                </a:solidFill>
                <a:latin typeface="Arial"/>
              </a:rPr>
              <a:t>THE HARDEST CORRECTNESS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52628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Direct children only. If A⊃B⊃C, A subtracts B (which already contains C); B subtracts C. Subtracting C from A too undercounts 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3767328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95560" y="3767328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0" y="3968496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96849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ipv4_single_origin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4553712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4937760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95560" y="4937760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513892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Insert into trie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5138928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pytricia.PyTricia(32)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572414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6108192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95560" y="6108192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Subtract direct kids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pyt.parent(child)==prefix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6894576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7278624"/>
            <a:ext cx="6858000" cy="786384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95560" y="7278624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74797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Per-AS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7479792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counts[asn]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Longest-prefix match with PyTricia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286000"/>
            <a:ext cx="15819120" cy="367741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2286000"/>
            <a:ext cx="45720" cy="3677412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7048" y="2505456"/>
            <a:ext cx="15361920" cy="3677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pyt = pytricia.PyTricia(32)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for prefix, asn in ipv4_single_origin: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pyt[prefix] = asn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for prefix, asn, plen in parsed: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total = 1 &lt;&lt; (32 - plen)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overlap = 0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for child in pyt.children(prefix):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        if child == prefix: continue           # children() includes self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        if pyt.parent(child) == prefix:        # DIRECT children only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overlap += 1 &lt;&lt; (32 - int(child.split('/')[1]))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counts[asn] += total -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869680"/>
            <a:ext cx="1581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00" b="1" i="0" dirty="0">
                <a:solidFill>
                  <a:srgbClr val="2B5187"/>
                </a:solidFill>
                <a:latin typeface="Arial"/>
              </a:rPr>
              <a:t>Scale check: </a:t>
            </a:r>
            <a:r>
              <a:rPr sz="1900" b="0" i="0" dirty="0">
                <a:solidFill>
                  <a:srgbClr val="343A40"/>
                </a:solidFill>
                <a:latin typeface="Arial"/>
              </a:rPr>
              <a:t>total attributed IPv4 ≈ 3.1 billion across ≈ 77,600 origin ASes (not ≈ 4.3B — that means double-counting).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READING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Reading a CCDF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CCDF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plots, for each value x, the number of ASes with </a:t>
            </a:r>
            <a:r>
              <a:rPr sz="2100" b="1" i="0">
                <a:solidFill>
                  <a:srgbClr val="2B5187"/>
                </a:solidFill>
                <a:latin typeface="Arial"/>
              </a:rPr>
              <a:t>≥ x.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498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035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Log–log axes — counts span 8+ orders of magnitude.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60"/>
            <a:ext cx="8229600" cy="655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Steep left + long tail = a few heavy hitters dominate; </a:t>
            </a:r>
            <a:endParaRPr lang="en-US" sz="2100" b="0" i="0" dirty="0">
              <a:solidFill>
                <a:srgbClr val="343A40"/>
              </a:solidFill>
              <a:latin typeface="Arial"/>
            </a:endParaRPr>
          </a:p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a near-straight line ≈ power law.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F1D3DE-D909-B5A3-31AF-25D50627F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06" y="2229852"/>
            <a:ext cx="8899394" cy="5898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Origin metrics, and Q1 /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4440" y="2240280"/>
          <a:ext cx="8778240" cy="177393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Origin prefix count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~14.4k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~14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Origin address count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~223M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4440" y="5120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Q1 — shape: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heavy-tailed; most ASes tiny (median 2), a few enormous (mean 14, dragged by the tail).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126480"/>
            <a:ext cx="1572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Q3 — divergence: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the curves separate because prefix size varies hugely — </a:t>
            </a:r>
            <a:r>
              <a:rPr sz="2000" b="1" i="0">
                <a:solidFill>
                  <a:srgbClr val="212529"/>
                </a:solidFill>
                <a:latin typeface="Arial"/>
              </a:rPr>
              <a:t>the top-prefix AS is not the top-address 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Customer cones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From what an AS announces to what its cone can reach.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4693BC-92A2-4C91-AD29-DBA62D9E3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01" y="2901028"/>
            <a:ext cx="7309497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CONES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customer cone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Customer cone = the root AS plus every AS reachable via </a:t>
            </a:r>
            <a:r>
              <a:rPr sz="2100" b="1" i="0">
                <a:solidFill>
                  <a:srgbClr val="2B5187"/>
                </a:solidFill>
                <a:latin typeface="Arial"/>
              </a:rPr>
              <a:t>provider→customer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links.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312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66359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Measures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transit influence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— not just what an AS announces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27278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126479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Input: CAIDA PPDC file </a:t>
            </a:r>
            <a:r>
              <a:rPr sz="1800" b="0" i="0" dirty="0">
                <a:solidFill>
                  <a:srgbClr val="2B5187"/>
                </a:solidFill>
                <a:latin typeface="Roboto Mono"/>
              </a:rPr>
              <a:t>20260501.ppdc-ases.txt.bz2</a:t>
            </a:r>
            <a:r>
              <a:rPr sz="2100" b="0" i="0" dirty="0">
                <a:solidFill>
                  <a:srgbClr val="343A40"/>
                </a:solidFill>
                <a:latin typeface="Arial"/>
              </a:rPr>
              <a:t>, loaded as a black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360920"/>
            <a:ext cx="8229600" cy="1097280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75438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You </a:t>
            </a:r>
            <a:r>
              <a:rPr sz="1800" b="1" i="1">
                <a:solidFill>
                  <a:srgbClr val="2B5187"/>
                </a:solidFill>
                <a:latin typeface="Arial"/>
              </a:rPr>
              <a:t>use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the precomputed cone file here; </a:t>
            </a:r>
            <a:r>
              <a:rPr sz="1800" b="1" i="1">
                <a:solidFill>
                  <a:srgbClr val="2B5187"/>
                </a:solidFill>
                <a:latin typeface="Arial"/>
              </a:rPr>
              <a:t>how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relationships &amp; cones are inferred is Block 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4181" y="7498079"/>
            <a:ext cx="62719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graph shows the respective cone sizes for each AS</a:t>
            </a:r>
            <a:endParaRPr sz="1600" b="0" i="0" dirty="0">
              <a:solidFill>
                <a:srgbClr val="6C75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 descr="https://asrank.caida.org/images/customer-cones.png">
            <a:extLst>
              <a:ext uri="{FF2B5EF4-FFF2-40B4-BE49-F238E27FC236}">
                <a16:creationId xmlns:a16="http://schemas.microsoft.com/office/drawing/2014/main" id="{E2B550DC-15A9-CD19-DA18-28D004B7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397" y="3828421"/>
            <a:ext cx="5686876" cy="32245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TWO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Owns vs. reaches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304288"/>
            <a:ext cx="7717536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7066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50" b="1" i="0">
                <a:solidFill>
                  <a:srgbClr val="212529"/>
                </a:solidFill>
                <a:latin typeface="Arial"/>
              </a:rPr>
              <a:t>Task 1 — 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127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what an AS owns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941063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38862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Question: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who owns the space?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809744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47548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Nested more-specifics: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subtracted (LPM)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678424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562356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Method: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PyTricia children-subtraction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6024" y="2304288"/>
            <a:ext cx="7717536" cy="5120640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47504" y="27066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50" b="1" i="0">
                <a:solidFill>
                  <a:srgbClr val="2B5187"/>
                </a:solidFill>
                <a:latin typeface="Arial"/>
              </a:rPr>
              <a:t>Task 2 — cone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7504" y="3127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what an AS reaches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47504" y="3941063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21824" y="38862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Question: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what does the cone reach?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4809744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47548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Nested more-specifics: </a:t>
            </a:r>
            <a:r>
              <a:rPr sz="1900" b="1" i="0">
                <a:solidFill>
                  <a:srgbClr val="BE4228"/>
                </a:solidFill>
                <a:latin typeface="Arial"/>
              </a:rPr>
              <a:t>NOT subtracted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47504" y="5678424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1824" y="562356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Method: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sorted-interval sweep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Counting the cone: prefix sum + address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Cone prefix count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sum members’ prefix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2788920"/>
            <a:ext cx="7589520" cy="1303401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2788920"/>
            <a:ext cx="45720" cy="1303401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7048" y="3008376"/>
            <a:ext cx="7132320" cy="1303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cone_prefix_count[root] = sum(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asn_prefix_count.get(m, 0)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for m in members)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86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Cone address count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merge nets into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788920"/>
            <a:ext cx="7726679" cy="2554224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0" y="2788920"/>
            <a:ext cx="45720" cy="255422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9488" y="3008376"/>
            <a:ext cx="7269479" cy="255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nets = sorted(member_nets, key=...)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total, covered_end = 0, -1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for net in nets: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start = int(net.network_address)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if start &gt; covered_end: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total += net.num_addresses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covered_end = start + \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    net.num_addresses - 1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8869680"/>
            <a:ext cx="1581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0" i="1">
                <a:solidFill>
                  <a:srgbClr val="6C757D"/>
                </a:solidFill>
                <a:latin typeface="Arial"/>
              </a:rPr>
              <a:t>Within a cone we ask </a:t>
            </a:r>
            <a:r>
              <a:rPr sz="1900" b="0" i="1">
                <a:solidFill>
                  <a:srgbClr val="2B5187"/>
                </a:solidFill>
                <a:latin typeface="Arial"/>
              </a:rPr>
              <a:t>“is this reachable through me?”</a:t>
            </a:r>
            <a:r>
              <a:rPr sz="1900" b="0" i="1">
                <a:solidFill>
                  <a:srgbClr val="6C757D"/>
                </a:solidFill>
                <a:latin typeface="Arial"/>
              </a:rPr>
              <a:t> — so we do not subtract more-specifics. The deliberate opposite of Task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Cone metrics, and Q4 / 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18898"/>
              </p:ext>
            </p:extLst>
          </p:nvPr>
        </p:nvGraphicFramePr>
        <p:xfrm>
          <a:off x="1234440" y="2240280"/>
          <a:ext cx="8778240" cy="177393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B5187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Cone prefix count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~8</a:t>
                      </a:r>
                      <a:r>
                        <a:rPr lang="en-US" sz="1800" b="0" dirty="0">
                          <a:solidFill>
                            <a:srgbClr val="343A40"/>
                          </a:solidFill>
                          <a:latin typeface="Arial"/>
                        </a:rPr>
                        <a:t>93</a:t>
                      </a:r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~20</a:t>
                      </a:r>
                      <a:r>
                        <a:rPr lang="en-US" sz="1800" b="0" dirty="0">
                          <a:solidFill>
                            <a:srgbClr val="343A40"/>
                          </a:solidFill>
                          <a:latin typeface="Arial"/>
                        </a:rPr>
                        <a:t>3</a:t>
                      </a:r>
                      <a:endParaRPr sz="1800" b="0" dirty="0">
                        <a:solidFill>
                          <a:srgbClr val="343A40"/>
                        </a:solidFill>
                        <a:latin typeface="Arial"/>
                      </a:endParaRP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Cone address count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~2.35B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B5187"/>
                          </a:solidFill>
                          <a:latin typeface="Arial"/>
                        </a:rPr>
                        <a:t>~1k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4440" y="5120640"/>
            <a:ext cx="1572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Q4 — shape: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even more heavy-tailed (median cone 3; the top cone reaches hundreds of thousands).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126480"/>
            <a:ext cx="1572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Q5 — why cone ≥ origin: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the cone is a superset of the AS itself (equal only for stubs). Providers reach customer prefixes they don’t originate — so cone count dwarfs origin count.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 dirty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From numbers to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Who are the leaders — and why they rank where they 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ORGS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Map ASNs to organizations (AS2Org)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Join the numeric leaders back to real-world orgs using CAIDA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as2org.jsonl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(orgName, country, members).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2669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206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One organization can hold many ASNs — clustered from registry records.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935267"/>
              </p:ext>
            </p:extLst>
          </p:nvPr>
        </p:nvGraphicFramePr>
        <p:xfrm>
          <a:off x="1234440" y="6400800"/>
          <a:ext cx="8503920" cy="2377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Kind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Ranks high via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Transit backbone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Lumen / L3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5187"/>
                          </a:solidFill>
                          <a:latin typeface="Arial"/>
                        </a:rPr>
                        <a:t>huge cone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Cloud / content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Amazon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own </a:t>
                      </a:r>
                      <a:r>
                        <a:rPr lang="en-US" sz="1800" b="0" dirty="0">
                          <a:solidFill>
                            <a:srgbClr val="2B5187"/>
                          </a:solidFill>
                          <a:latin typeface="Arial"/>
                        </a:rPr>
                        <a:t>prefixes / </a:t>
                      </a:r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addresses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Legacy holder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US DoD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coarse </a:t>
                      </a:r>
                      <a:r>
                        <a:rPr lang="en-US" sz="1800" b="0" dirty="0">
                          <a:solidFill>
                            <a:srgbClr val="2B5187"/>
                          </a:solidFill>
                          <a:latin typeface="Arial"/>
                        </a:rPr>
                        <a:t>address </a:t>
                      </a:r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blocks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rank-vector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206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Rank each metric independently (rank 1 = highest).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120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51206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Union the top-3 ASNs across the four rank dicts.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6035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035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Sort rows by each ASN’s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sorted vector of ranks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— best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4114800"/>
            <a:ext cx="7543800" cy="1830959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09760" y="4114800"/>
            <a:ext cx="45720" cy="1830959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02368" y="4334256"/>
            <a:ext cx="7086600" cy="1830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def ranked(d):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return {asn: r for r, (asn, _) in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enumerate(sorted(d.items(),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key=lambda x: x[1],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reverse=True), start=1)}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406640"/>
            <a:ext cx="15819120" cy="1051560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7607808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00" b="1" i="0">
                <a:solidFill>
                  <a:srgbClr val="2B5187"/>
                </a:solidFill>
                <a:latin typeface="Roboto Mono"/>
              </a:rPr>
              <a:t>[1,1,3,4]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beats </a:t>
            </a:r>
            <a:r>
              <a:rPr sz="1900" b="1" i="0">
                <a:solidFill>
                  <a:srgbClr val="2B5187"/>
                </a:solidFill>
                <a:latin typeface="Roboto Mono"/>
              </a:rPr>
              <a:t>[1,2,2,3]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beats </a:t>
            </a:r>
            <a:r>
              <a:rPr sz="1900" b="1" i="0">
                <a:solidFill>
                  <a:srgbClr val="2B5187"/>
                </a:solidFill>
                <a:latin typeface="Roboto Mono"/>
              </a:rPr>
              <a:t>[2,2,3,9999]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— compare best rank, then next. Being #1 in two metrics beats #1 in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715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 dirty="0">
                <a:solidFill>
                  <a:srgbClr val="2B5187"/>
                </a:solidFill>
                <a:latin typeface="Arial"/>
              </a:rPr>
              <a:t>Q6: one sentence per top-4 organization</a:t>
            </a:r>
            <a:r>
              <a:rPr lang="en-US" sz="4650" b="0" i="0" spc="-46" dirty="0">
                <a:solidFill>
                  <a:srgbClr val="2B5187"/>
                </a:solidFill>
                <a:latin typeface="Arial"/>
              </a:rPr>
              <a:t>s of </a:t>
            </a:r>
            <a:r>
              <a:rPr lang="en-US" sz="4650" b="0" i="0" spc="-46" dirty="0" err="1">
                <a:solidFill>
                  <a:srgbClr val="2B5187"/>
                </a:solidFill>
                <a:latin typeface="Arial"/>
              </a:rPr>
              <a:t>eac</a:t>
            </a:r>
            <a:r>
              <a:rPr lang="en-US" sz="4650" b="0" i="0" spc="-46" dirty="0">
                <a:solidFill>
                  <a:srgbClr val="2B5187"/>
                </a:solidFill>
                <a:latin typeface="Arial"/>
              </a:rPr>
              <a:t> type</a:t>
            </a:r>
            <a:endParaRPr sz="4650" b="0" i="0" spc="-46" dirty="0">
              <a:solidFill>
                <a:srgbClr val="2B5187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Transit backbone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cone (prefixes + addresses), needn’t own much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Cloud / content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own address count (large hosting allocations).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3642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1792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Legacy holder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address count from historic coarse blocks, modest cone.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498079"/>
            <a:ext cx="1581912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7699248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0" i="1">
                <a:solidFill>
                  <a:srgbClr val="6C757D"/>
                </a:solidFill>
                <a:latin typeface="Arial"/>
              </a:rPr>
              <a:t>The exact four orgs and counts are </a:t>
            </a:r>
            <a:r>
              <a:rPr sz="1900" b="1" i="0">
                <a:solidFill>
                  <a:srgbClr val="BE4228"/>
                </a:solidFill>
                <a:latin typeface="Arial"/>
              </a:rPr>
              <a:t>[student computes]</a:t>
            </a:r>
            <a:r>
              <a:rPr sz="1900" b="0" i="1">
                <a:solidFill>
                  <a:srgbClr val="6C757D"/>
                </a:solidFill>
                <a:latin typeface="Arial"/>
              </a:rPr>
              <a:t> — name the mechanism, not just the org.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BEFORE YOU 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Don’t double-count nested space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total ≈ 3.1B, not ≈ 4.3B.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Task 2 sweep does NOT subtract more-specifics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the opposite of Task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59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Use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.update(origin_asns)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not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.add()</a:t>
            </a:r>
            <a:r>
              <a:rPr sz="2100" b="0" i="0">
                <a:solidFill>
                  <a:srgbClr val="343A40"/>
                </a:solidFill>
                <a:latin typeface="Arial"/>
              </a:rPr>
              <a:t>; exclude MOAS; CCDF y = ASes with ≥ x (log–log).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50722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7360919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Ranking unions top-3 across metrics, sorted by the rank vector.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ASSIGNMENT 2 · DUE BEGINNING OF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527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Roboto Mono"/>
              </a:rPr>
              <a:t>nids-bgp-control-plane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Attribute address space from the global routing table, measure cone reach, and rank the leaders — the BGP section of your module.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71246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35661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1 — origin map, MOAS %, LPM address counts, origin CCDF (Q1–Q3)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42062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2 — customer-cone prefix &amp; address counts (Q4–Q5)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9926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4846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3 — top-3-in-any-metric table joined to AS2Org (Q6)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6327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72768" y="548640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Finish all notebook tasks and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73000" y="2249424"/>
            <a:ext cx="4480560" cy="64008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38760" y="260604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MODULE 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3008376"/>
            <a:ext cx="3886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Becomes the BGP / control-plane section of your own training module.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38760" y="4526280"/>
            <a:ext cx="3749039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38760" y="480060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5193792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800" b="0" i="0">
                <a:solidFill>
                  <a:srgbClr val="212529"/>
                </a:solidFill>
                <a:latin typeface="Roboto Mono"/>
              </a:rPr>
              <a:t>github.com/CAIDA/
nids-bgp-control-plane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BEFORE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This week,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5237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3774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Open the notebook on NRP JupyterHub (</a:t>
            </a:r>
            <a:r>
              <a:rPr sz="1700" b="0" i="0">
                <a:solidFill>
                  <a:srgbClr val="2B5187"/>
                </a:solidFill>
                <a:latin typeface="Roboto Mono"/>
              </a:rPr>
              <a:t>jupyterhub-west.nrp-nautilus.io</a:t>
            </a:r>
            <a:r>
              <a:rPr sz="1950" b="0" i="0">
                <a:solidFill>
                  <a:srgbClr val="343A40"/>
                </a:solidFill>
                <a:latin typeface="Arial"/>
              </a:rPr>
              <a:t>).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090672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2944368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Work Tasks 1–3; replace each </a:t>
            </a:r>
            <a:r>
              <a:rPr sz="1700" b="0" i="0">
                <a:solidFill>
                  <a:srgbClr val="2B5187"/>
                </a:solidFill>
                <a:latin typeface="Roboto Mono"/>
              </a:rPr>
              <a:t># YOUR CODE HERE</a:t>
            </a:r>
            <a:r>
              <a:rPr sz="1950" b="0" i="0">
                <a:solidFill>
                  <a:srgbClr val="343A40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657600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3511296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Finish the assignment by the beginning of Week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224528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4078224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Attend the plenary — or catch up; materials are posted.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4791456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464515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Use the hands-on hour and mentors for infrastructure help.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73000" y="2249424"/>
            <a:ext cx="448056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0" y="2569464"/>
            <a:ext cx="42062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OPTIONAL 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0" y="297180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RouteViews &amp; MRT background; CAIDA AS Rank notes on customer cones — context, returns in Block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02184" y="493776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212529"/>
                </a:solidFill>
                <a:latin typeface="Arial"/>
              </a:rPr>
              <a:t>Questions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 ·  Mattermost (fastest)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02184" y="53218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0000EE"/>
                </a:solidFill>
                <a:latin typeface="Arial"/>
              </a:rPr>
              <a:t>training-program-info@caida.org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1026871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6C757D"/>
                </a:solidFill>
                <a:latin typeface="Arial"/>
              </a:rPr>
              <a:t>APPENDIX · FOR 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1026871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A9C2E4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>
                <a:solidFill>
                  <a:srgbClr val="FFFFFF"/>
                </a:solidFill>
                <a:latin typeface="Arial"/>
              </a:rPr>
              <a:t>Supporting detail, not covered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550" b="0" i="0">
                <a:solidFill>
                  <a:srgbClr val="6C757D"/>
                </a:solidFill>
                <a:latin typeface="Arial"/>
              </a:rPr>
              <a:t>A few slides so the deck stands on its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APPENDIX · ADDRESS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Longest-prefix match, three levels deep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77440"/>
            <a:ext cx="9509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Prefixes nest arbitrarily deep. Each address must be credited once, to the most-specific prefix that covers it, so a provider’s block is not counted on top of the customer more-specifics inside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023360"/>
            <a:ext cx="9509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Subtract direct children only. With A ⊃ B ⊃ C: A subtracts B (B already contains C), and B separately subtracts C. If A also subtracted C, A would be undercounted — C would be removed twice.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852160"/>
            <a:ext cx="8686800" cy="1830959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5852160"/>
            <a:ext cx="45720" cy="1830959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7048" y="6071616"/>
            <a:ext cx="8229600" cy="1830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A = 10.0.0.0/8    (16,777,216)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B = 10.1.0.0/16   (65,536, in A)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A = 16,777,216 - 65,536 = 16,711,680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B = 65,536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46536" y="3904487"/>
            <a:ext cx="5907024" cy="36576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0" y="42976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0" y="44074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B5187"/>
                </a:solidFill>
                <a:latin typeface="Roboto Mono"/>
              </a:rPr>
              <a:t>/8  =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0" y="4937760"/>
            <a:ext cx="3657600" cy="1828800"/>
          </a:xfrm>
          <a:prstGeom prst="rect">
            <a:avLst/>
          </a:prstGeom>
          <a:solidFill>
            <a:srgbClr val="E9EFF7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B5187"/>
                </a:solidFill>
                <a:latin typeface="Roboto Mono"/>
              </a:rPr>
              <a:t>/16 =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10160" y="5577840"/>
            <a:ext cx="2194560" cy="9144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10160" y="5852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Roboto Mono"/>
              </a:rPr>
              <a:t>/24 =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APPENDIX ·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Advanced terms and acronyms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02536"/>
            <a:ext cx="1645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6C757D"/>
                </a:solidFill>
                <a:latin typeface="Arial"/>
              </a:rPr>
              <a:t>Program-, platform-, and research-specific terms used in this deck. (General terms like IPv4, BGP, AS, CIDR omitted.)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7919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 dirty="0">
                <a:solidFill>
                  <a:srgbClr val="2B5187"/>
                </a:solidFill>
                <a:latin typeface="Arial"/>
              </a:rPr>
              <a:t>AS2Org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4495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CAIDA dataset mapping ASNs to organizations (orgName, country, members).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712464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bgpkit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078224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Toolkit that parses MRT routing dumps into Python objects.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745736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CCDF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111496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Complementary CDF: for each x, the count of items with value ≥ 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779008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customer cone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61447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Root AS plus all ASes reachable via provider→customer links.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812279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LPM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717804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Longest-prefix match: credit an address to its most-specific covering prefix.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784555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MOAS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821131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Multi-Origin AS: one prefix announced by more than one origin 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67919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MRT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304495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Multi-Threaded Routing Toolkit — binary format for archived routing tables.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712464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origin 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4078224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The last ASN in a BGP path — who announced the prefix.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4745736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OSDF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5111496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Open Science Data Federation — staging path used to fetch the RIB.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5779008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PPDC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61447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Per-AS customer-cone membership file (provider→customer derived).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6812279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RIB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717804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Routing Information Base — a collector’s snapshot of received routes.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784555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RouteViews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821131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Univ. of Oregon project archiving BGP tables from many collectors.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6904</TotalTime>
  <Words>3387</Words>
  <Application>Microsoft Macintosh PowerPoint</Application>
  <PresentationFormat>Custom</PresentationFormat>
  <Paragraphs>428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kc claffy</cp:lastModifiedBy>
  <cp:revision>6</cp:revision>
  <dcterms:created xsi:type="dcterms:W3CDTF">2013-01-27T09:14:16Z</dcterms:created>
  <dcterms:modified xsi:type="dcterms:W3CDTF">2026-06-29T05:14:05Z</dcterms:modified>
  <cp:category/>
</cp:coreProperties>
</file>